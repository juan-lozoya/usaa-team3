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2" d="100"/>
          <a:sy n="72" d="100"/>
        </p:scale>
        <p:origin x="221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0F3384-39B6-4D0D-9F81-F2A0B84603A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AB548B8-F94B-404F-9AB1-395B385FD0EB}">
      <dgm:prSet/>
      <dgm:spPr/>
      <dgm:t>
        <a:bodyPr/>
        <a:lstStyle/>
        <a:p>
          <a:r>
            <a:rPr lang="es-MX" b="1" dirty="0"/>
            <a:t>Pipeline:</a:t>
          </a:r>
          <a:r>
            <a:rPr lang="es-MX" dirty="0"/>
            <a:t> </a:t>
          </a:r>
          <a:r>
            <a:rPr lang="es-MX" dirty="0" err="1"/>
            <a:t>Synthetic</a:t>
          </a:r>
          <a:r>
            <a:rPr lang="es-MX" dirty="0"/>
            <a:t> Data </a:t>
          </a:r>
          <a:endParaRPr lang="en-US" dirty="0"/>
        </a:p>
      </dgm:t>
    </dgm:pt>
    <dgm:pt modelId="{C0B8543A-1059-4264-8EBF-E82942E7A5E5}" type="parTrans" cxnId="{09DA52CB-DDF1-4F8D-B0A1-1CF8EFD82956}">
      <dgm:prSet/>
      <dgm:spPr/>
      <dgm:t>
        <a:bodyPr/>
        <a:lstStyle/>
        <a:p>
          <a:endParaRPr lang="en-US"/>
        </a:p>
      </dgm:t>
    </dgm:pt>
    <dgm:pt modelId="{2FF5C23A-45C9-4978-8082-537FFE7831E0}" type="sibTrans" cxnId="{09DA52CB-DDF1-4F8D-B0A1-1CF8EFD82956}">
      <dgm:prSet/>
      <dgm:spPr/>
      <dgm:t>
        <a:bodyPr/>
        <a:lstStyle/>
        <a:p>
          <a:endParaRPr lang="en-US"/>
        </a:p>
      </dgm:t>
    </dgm:pt>
    <dgm:pt modelId="{0A6E8730-1A54-442F-A29E-32CEB6B3C5DA}">
      <dgm:prSet/>
      <dgm:spPr/>
      <dgm:t>
        <a:bodyPr/>
        <a:lstStyle/>
        <a:p>
          <a:r>
            <a:rPr lang="es-MX" dirty="0" err="1"/>
            <a:t>Preprocessing</a:t>
          </a:r>
          <a:r>
            <a:rPr lang="es-MX" dirty="0"/>
            <a:t> </a:t>
          </a:r>
          <a:endParaRPr lang="en-US" dirty="0"/>
        </a:p>
      </dgm:t>
    </dgm:pt>
    <dgm:pt modelId="{11B15F13-BA6F-44EC-B02F-860490C0189F}" type="parTrans" cxnId="{A5BF5FE7-B205-4199-8152-F809232A55C1}">
      <dgm:prSet/>
      <dgm:spPr/>
      <dgm:t>
        <a:bodyPr/>
        <a:lstStyle/>
        <a:p>
          <a:endParaRPr lang="en-US"/>
        </a:p>
      </dgm:t>
    </dgm:pt>
    <dgm:pt modelId="{01124F81-58A5-4A5C-B9D7-70CE67099C70}" type="sibTrans" cxnId="{A5BF5FE7-B205-4199-8152-F809232A55C1}">
      <dgm:prSet/>
      <dgm:spPr/>
      <dgm:t>
        <a:bodyPr/>
        <a:lstStyle/>
        <a:p>
          <a:endParaRPr lang="en-US"/>
        </a:p>
      </dgm:t>
    </dgm:pt>
    <dgm:pt modelId="{DF478BB5-4C7B-44BF-90BD-C889FCA3E3A0}">
      <dgm:prSet/>
      <dgm:spPr/>
      <dgm:t>
        <a:bodyPr/>
        <a:lstStyle/>
        <a:p>
          <a:r>
            <a:rPr lang="es-MX" dirty="0"/>
            <a:t>Rating Engine  </a:t>
          </a:r>
          <a:endParaRPr lang="en-US" dirty="0"/>
        </a:p>
      </dgm:t>
    </dgm:pt>
    <dgm:pt modelId="{086135A9-B41E-49C5-9414-DB4CA5F2EE57}" type="parTrans" cxnId="{B62D1F03-D3A7-447B-B6CF-817D0A723A5D}">
      <dgm:prSet/>
      <dgm:spPr/>
      <dgm:t>
        <a:bodyPr/>
        <a:lstStyle/>
        <a:p>
          <a:endParaRPr lang="en-US"/>
        </a:p>
      </dgm:t>
    </dgm:pt>
    <dgm:pt modelId="{7BD3A5FB-CE31-4561-BDD4-3EACF0102FFF}" type="sibTrans" cxnId="{B62D1F03-D3A7-447B-B6CF-817D0A723A5D}">
      <dgm:prSet/>
      <dgm:spPr/>
      <dgm:t>
        <a:bodyPr/>
        <a:lstStyle/>
        <a:p>
          <a:endParaRPr lang="en-US"/>
        </a:p>
      </dgm:t>
    </dgm:pt>
    <dgm:pt modelId="{9D909A5F-8CC4-4F66-941B-666D5617A0B4}">
      <dgm:prSet/>
      <dgm:spPr/>
      <dgm:t>
        <a:bodyPr/>
        <a:lstStyle/>
        <a:p>
          <a:r>
            <a:rPr lang="es-MX" dirty="0" err="1"/>
            <a:t>XGBoost</a:t>
          </a:r>
          <a:r>
            <a:rPr lang="es-MX" dirty="0"/>
            <a:t> Model  </a:t>
          </a:r>
          <a:endParaRPr lang="en-US" dirty="0"/>
        </a:p>
      </dgm:t>
    </dgm:pt>
    <dgm:pt modelId="{2915B8FB-A45D-477C-9A3D-38E78D0E14E1}" type="parTrans" cxnId="{477AC688-5984-4FF6-B6EE-4998E55F7C8B}">
      <dgm:prSet/>
      <dgm:spPr/>
      <dgm:t>
        <a:bodyPr/>
        <a:lstStyle/>
        <a:p>
          <a:endParaRPr lang="en-US"/>
        </a:p>
      </dgm:t>
    </dgm:pt>
    <dgm:pt modelId="{0930A065-6944-48BE-9344-A856F87FF687}" type="sibTrans" cxnId="{477AC688-5984-4FF6-B6EE-4998E55F7C8B}">
      <dgm:prSet/>
      <dgm:spPr/>
      <dgm:t>
        <a:bodyPr/>
        <a:lstStyle/>
        <a:p>
          <a:endParaRPr lang="en-US"/>
        </a:p>
      </dgm:t>
    </dgm:pt>
    <dgm:pt modelId="{49770851-32C1-4FD7-A86E-2A6CBFF3E77E}">
      <dgm:prSet/>
      <dgm:spPr/>
      <dgm:t>
        <a:bodyPr/>
        <a:lstStyle/>
        <a:p>
          <a:r>
            <a:rPr lang="es-MX" dirty="0"/>
            <a:t>SHAP </a:t>
          </a:r>
          <a:r>
            <a:rPr lang="es-MX" dirty="0" err="1"/>
            <a:t>Explainability</a:t>
          </a:r>
          <a:r>
            <a:rPr lang="es-MX" dirty="0"/>
            <a:t> </a:t>
          </a:r>
          <a:endParaRPr lang="en-US" dirty="0"/>
        </a:p>
      </dgm:t>
    </dgm:pt>
    <dgm:pt modelId="{35962A6D-2523-4770-9DB9-9936EEFC5C71}" type="parTrans" cxnId="{4A649C4D-0572-4942-9746-D5F06E757C89}">
      <dgm:prSet/>
      <dgm:spPr/>
      <dgm:t>
        <a:bodyPr/>
        <a:lstStyle/>
        <a:p>
          <a:endParaRPr lang="en-US"/>
        </a:p>
      </dgm:t>
    </dgm:pt>
    <dgm:pt modelId="{77387065-55A2-4600-9099-5322EF073809}" type="sibTrans" cxnId="{4A649C4D-0572-4942-9746-D5F06E757C89}">
      <dgm:prSet/>
      <dgm:spPr/>
      <dgm:t>
        <a:bodyPr/>
        <a:lstStyle/>
        <a:p>
          <a:endParaRPr lang="en-US"/>
        </a:p>
      </dgm:t>
    </dgm:pt>
    <dgm:pt modelId="{9A67B34C-FA8B-4442-B985-D462644123AA}">
      <dgm:prSet/>
      <dgm:spPr/>
      <dgm:t>
        <a:bodyPr/>
        <a:lstStyle/>
        <a:p>
          <a:r>
            <a:rPr lang="es-MX" dirty="0"/>
            <a:t>Excel </a:t>
          </a:r>
          <a:r>
            <a:rPr lang="es-MX" dirty="0" err="1"/>
            <a:t>Dashboard</a:t>
          </a:r>
          <a:endParaRPr lang="en-US" dirty="0"/>
        </a:p>
      </dgm:t>
    </dgm:pt>
    <dgm:pt modelId="{1A72C1B3-638A-422E-940D-75D561F6BD51}" type="parTrans" cxnId="{3570BECC-1FC0-4E9F-A9F2-51CB7B4C9DEA}">
      <dgm:prSet/>
      <dgm:spPr/>
      <dgm:t>
        <a:bodyPr/>
        <a:lstStyle/>
        <a:p>
          <a:endParaRPr lang="en-US"/>
        </a:p>
      </dgm:t>
    </dgm:pt>
    <dgm:pt modelId="{BA870928-0123-4CB5-A952-B3F9C6B1CB88}" type="sibTrans" cxnId="{3570BECC-1FC0-4E9F-A9F2-51CB7B4C9DEA}">
      <dgm:prSet/>
      <dgm:spPr/>
      <dgm:t>
        <a:bodyPr/>
        <a:lstStyle/>
        <a:p>
          <a:endParaRPr lang="en-US"/>
        </a:p>
      </dgm:t>
    </dgm:pt>
    <dgm:pt modelId="{E5905768-9814-4BEA-8869-81A5F795FEE4}" type="pres">
      <dgm:prSet presAssocID="{350F3384-39B6-4D0D-9F81-F2A0B84603A3}" presName="Name0" presStyleCnt="0">
        <dgm:presLayoutVars>
          <dgm:dir/>
          <dgm:resizeHandles val="exact"/>
        </dgm:presLayoutVars>
      </dgm:prSet>
      <dgm:spPr/>
    </dgm:pt>
    <dgm:pt modelId="{2559BDFA-9A65-4037-B0EC-1AA010322C0D}" type="pres">
      <dgm:prSet presAssocID="{5AB548B8-F94B-404F-9AB1-395B385FD0EB}" presName="node" presStyleLbl="node1" presStyleIdx="0" presStyleCnt="6">
        <dgm:presLayoutVars>
          <dgm:bulletEnabled val="1"/>
        </dgm:presLayoutVars>
      </dgm:prSet>
      <dgm:spPr/>
    </dgm:pt>
    <dgm:pt modelId="{03CEF896-D690-4DC1-95A7-5AA4A32D66B9}" type="pres">
      <dgm:prSet presAssocID="{2FF5C23A-45C9-4978-8082-537FFE7831E0}" presName="sibTrans" presStyleLbl="sibTrans1D1" presStyleIdx="0" presStyleCnt="5"/>
      <dgm:spPr/>
    </dgm:pt>
    <dgm:pt modelId="{E52FE6B2-7BD8-4B94-8F54-B638F8843AE6}" type="pres">
      <dgm:prSet presAssocID="{2FF5C23A-45C9-4978-8082-537FFE7831E0}" presName="connectorText" presStyleLbl="sibTrans1D1" presStyleIdx="0" presStyleCnt="5"/>
      <dgm:spPr/>
    </dgm:pt>
    <dgm:pt modelId="{75AEF454-73A0-4C2C-9185-FF5361092B02}" type="pres">
      <dgm:prSet presAssocID="{0A6E8730-1A54-442F-A29E-32CEB6B3C5DA}" presName="node" presStyleLbl="node1" presStyleIdx="1" presStyleCnt="6">
        <dgm:presLayoutVars>
          <dgm:bulletEnabled val="1"/>
        </dgm:presLayoutVars>
      </dgm:prSet>
      <dgm:spPr/>
    </dgm:pt>
    <dgm:pt modelId="{71BD887A-AC99-474E-8550-C775D4EEAE17}" type="pres">
      <dgm:prSet presAssocID="{01124F81-58A5-4A5C-B9D7-70CE67099C70}" presName="sibTrans" presStyleLbl="sibTrans1D1" presStyleIdx="1" presStyleCnt="5"/>
      <dgm:spPr/>
    </dgm:pt>
    <dgm:pt modelId="{0F59CA63-FC97-4BB2-93E7-69F050952FF6}" type="pres">
      <dgm:prSet presAssocID="{01124F81-58A5-4A5C-B9D7-70CE67099C70}" presName="connectorText" presStyleLbl="sibTrans1D1" presStyleIdx="1" presStyleCnt="5"/>
      <dgm:spPr/>
    </dgm:pt>
    <dgm:pt modelId="{438C8404-53BD-4A2F-AD6B-45C13574464F}" type="pres">
      <dgm:prSet presAssocID="{DF478BB5-4C7B-44BF-90BD-C889FCA3E3A0}" presName="node" presStyleLbl="node1" presStyleIdx="2" presStyleCnt="6">
        <dgm:presLayoutVars>
          <dgm:bulletEnabled val="1"/>
        </dgm:presLayoutVars>
      </dgm:prSet>
      <dgm:spPr/>
    </dgm:pt>
    <dgm:pt modelId="{5D058473-54EA-4E6F-BA45-7646BBD3DDD9}" type="pres">
      <dgm:prSet presAssocID="{7BD3A5FB-CE31-4561-BDD4-3EACF0102FFF}" presName="sibTrans" presStyleLbl="sibTrans1D1" presStyleIdx="2" presStyleCnt="5"/>
      <dgm:spPr/>
    </dgm:pt>
    <dgm:pt modelId="{307334BF-DE5F-410A-97A3-14F4BF521D90}" type="pres">
      <dgm:prSet presAssocID="{7BD3A5FB-CE31-4561-BDD4-3EACF0102FFF}" presName="connectorText" presStyleLbl="sibTrans1D1" presStyleIdx="2" presStyleCnt="5"/>
      <dgm:spPr/>
    </dgm:pt>
    <dgm:pt modelId="{1CA8B14A-017E-4C6C-AF9F-DE0C4DD548C1}" type="pres">
      <dgm:prSet presAssocID="{9D909A5F-8CC4-4F66-941B-666D5617A0B4}" presName="node" presStyleLbl="node1" presStyleIdx="3" presStyleCnt="6">
        <dgm:presLayoutVars>
          <dgm:bulletEnabled val="1"/>
        </dgm:presLayoutVars>
      </dgm:prSet>
      <dgm:spPr/>
    </dgm:pt>
    <dgm:pt modelId="{D859DC5E-4F0E-41C8-B0A2-1B04605A53E6}" type="pres">
      <dgm:prSet presAssocID="{0930A065-6944-48BE-9344-A856F87FF687}" presName="sibTrans" presStyleLbl="sibTrans1D1" presStyleIdx="3" presStyleCnt="5"/>
      <dgm:spPr/>
    </dgm:pt>
    <dgm:pt modelId="{CB9EA3F9-7CFD-4DA9-8131-6F08B35D5D36}" type="pres">
      <dgm:prSet presAssocID="{0930A065-6944-48BE-9344-A856F87FF687}" presName="connectorText" presStyleLbl="sibTrans1D1" presStyleIdx="3" presStyleCnt="5"/>
      <dgm:spPr/>
    </dgm:pt>
    <dgm:pt modelId="{D4851CD2-E130-4268-A3FF-6DD7685239B1}" type="pres">
      <dgm:prSet presAssocID="{49770851-32C1-4FD7-A86E-2A6CBFF3E77E}" presName="node" presStyleLbl="node1" presStyleIdx="4" presStyleCnt="6">
        <dgm:presLayoutVars>
          <dgm:bulletEnabled val="1"/>
        </dgm:presLayoutVars>
      </dgm:prSet>
      <dgm:spPr/>
    </dgm:pt>
    <dgm:pt modelId="{613AC97F-F484-4FF6-9870-D11EE57B20D7}" type="pres">
      <dgm:prSet presAssocID="{77387065-55A2-4600-9099-5322EF073809}" presName="sibTrans" presStyleLbl="sibTrans1D1" presStyleIdx="4" presStyleCnt="5"/>
      <dgm:spPr/>
    </dgm:pt>
    <dgm:pt modelId="{E0F78AC1-49F4-4DE1-9C06-7249DB1C80FC}" type="pres">
      <dgm:prSet presAssocID="{77387065-55A2-4600-9099-5322EF073809}" presName="connectorText" presStyleLbl="sibTrans1D1" presStyleIdx="4" presStyleCnt="5"/>
      <dgm:spPr/>
    </dgm:pt>
    <dgm:pt modelId="{853C6C08-FC7E-4E9C-8997-A0F0D10C39AB}" type="pres">
      <dgm:prSet presAssocID="{9A67B34C-FA8B-4442-B985-D462644123AA}" presName="node" presStyleLbl="node1" presStyleIdx="5" presStyleCnt="6">
        <dgm:presLayoutVars>
          <dgm:bulletEnabled val="1"/>
        </dgm:presLayoutVars>
      </dgm:prSet>
      <dgm:spPr/>
    </dgm:pt>
  </dgm:ptLst>
  <dgm:cxnLst>
    <dgm:cxn modelId="{B62D1F03-D3A7-447B-B6CF-817D0A723A5D}" srcId="{350F3384-39B6-4D0D-9F81-F2A0B84603A3}" destId="{DF478BB5-4C7B-44BF-90BD-C889FCA3E3A0}" srcOrd="2" destOrd="0" parTransId="{086135A9-B41E-49C5-9414-DB4CA5F2EE57}" sibTransId="{7BD3A5FB-CE31-4561-BDD4-3EACF0102FFF}"/>
    <dgm:cxn modelId="{DA4D3208-72EC-44A9-A650-EFB9090803F1}" type="presOf" srcId="{0930A065-6944-48BE-9344-A856F87FF687}" destId="{D859DC5E-4F0E-41C8-B0A2-1B04605A53E6}" srcOrd="0" destOrd="0" presId="urn:microsoft.com/office/officeart/2016/7/layout/RepeatingBendingProcessNew"/>
    <dgm:cxn modelId="{CB956316-210B-49C8-AEE5-10461AE199D7}" type="presOf" srcId="{49770851-32C1-4FD7-A86E-2A6CBFF3E77E}" destId="{D4851CD2-E130-4268-A3FF-6DD7685239B1}" srcOrd="0" destOrd="0" presId="urn:microsoft.com/office/officeart/2016/7/layout/RepeatingBendingProcessNew"/>
    <dgm:cxn modelId="{8C95763F-E0A6-4B85-9A22-4F4BEAB51E23}" type="presOf" srcId="{7BD3A5FB-CE31-4561-BDD4-3EACF0102FFF}" destId="{5D058473-54EA-4E6F-BA45-7646BBD3DDD9}" srcOrd="0" destOrd="0" presId="urn:microsoft.com/office/officeart/2016/7/layout/RepeatingBendingProcessNew"/>
    <dgm:cxn modelId="{D848E85D-E6FF-408C-8A14-AD5AB401E23D}" type="presOf" srcId="{5AB548B8-F94B-404F-9AB1-395B385FD0EB}" destId="{2559BDFA-9A65-4037-B0EC-1AA010322C0D}" srcOrd="0" destOrd="0" presId="urn:microsoft.com/office/officeart/2016/7/layout/RepeatingBendingProcessNew"/>
    <dgm:cxn modelId="{F1163B48-24E2-490F-874E-630D200AB9E3}" type="presOf" srcId="{01124F81-58A5-4A5C-B9D7-70CE67099C70}" destId="{71BD887A-AC99-474E-8550-C775D4EEAE17}" srcOrd="0" destOrd="0" presId="urn:microsoft.com/office/officeart/2016/7/layout/RepeatingBendingProcessNew"/>
    <dgm:cxn modelId="{4A649C4D-0572-4942-9746-D5F06E757C89}" srcId="{350F3384-39B6-4D0D-9F81-F2A0B84603A3}" destId="{49770851-32C1-4FD7-A86E-2A6CBFF3E77E}" srcOrd="4" destOrd="0" parTransId="{35962A6D-2523-4770-9DB9-9936EEFC5C71}" sibTransId="{77387065-55A2-4600-9099-5322EF073809}"/>
    <dgm:cxn modelId="{BA1DAD6F-71A0-4AEC-BDC1-BC45C510AAD0}" type="presOf" srcId="{0A6E8730-1A54-442F-A29E-32CEB6B3C5DA}" destId="{75AEF454-73A0-4C2C-9185-FF5361092B02}" srcOrd="0" destOrd="0" presId="urn:microsoft.com/office/officeart/2016/7/layout/RepeatingBendingProcessNew"/>
    <dgm:cxn modelId="{42E16350-2251-4FBB-87D2-343759E4B8DB}" type="presOf" srcId="{350F3384-39B6-4D0D-9F81-F2A0B84603A3}" destId="{E5905768-9814-4BEA-8869-81A5F795FEE4}" srcOrd="0" destOrd="0" presId="urn:microsoft.com/office/officeart/2016/7/layout/RepeatingBendingProcessNew"/>
    <dgm:cxn modelId="{889D6173-988B-48A0-BC98-20B833CBD14B}" type="presOf" srcId="{77387065-55A2-4600-9099-5322EF073809}" destId="{613AC97F-F484-4FF6-9870-D11EE57B20D7}" srcOrd="0" destOrd="0" presId="urn:microsoft.com/office/officeart/2016/7/layout/RepeatingBendingProcessNew"/>
    <dgm:cxn modelId="{A4372E7A-3736-491A-B908-36FE95ADCD39}" type="presOf" srcId="{01124F81-58A5-4A5C-B9D7-70CE67099C70}" destId="{0F59CA63-FC97-4BB2-93E7-69F050952FF6}" srcOrd="1" destOrd="0" presId="urn:microsoft.com/office/officeart/2016/7/layout/RepeatingBendingProcessNew"/>
    <dgm:cxn modelId="{968A4E7C-3EF8-436F-A9CA-1F66325420ED}" type="presOf" srcId="{7BD3A5FB-CE31-4561-BDD4-3EACF0102FFF}" destId="{307334BF-DE5F-410A-97A3-14F4BF521D90}" srcOrd="1" destOrd="0" presId="urn:microsoft.com/office/officeart/2016/7/layout/RepeatingBendingProcessNew"/>
    <dgm:cxn modelId="{5FE6C582-035E-4A61-A7BE-F650CF835E3B}" type="presOf" srcId="{9A67B34C-FA8B-4442-B985-D462644123AA}" destId="{853C6C08-FC7E-4E9C-8997-A0F0D10C39AB}" srcOrd="0" destOrd="0" presId="urn:microsoft.com/office/officeart/2016/7/layout/RepeatingBendingProcessNew"/>
    <dgm:cxn modelId="{477AC688-5984-4FF6-B6EE-4998E55F7C8B}" srcId="{350F3384-39B6-4D0D-9F81-F2A0B84603A3}" destId="{9D909A5F-8CC4-4F66-941B-666D5617A0B4}" srcOrd="3" destOrd="0" parTransId="{2915B8FB-A45D-477C-9A3D-38E78D0E14E1}" sibTransId="{0930A065-6944-48BE-9344-A856F87FF687}"/>
    <dgm:cxn modelId="{A5B07594-6A20-4994-AB83-8241C6D60912}" type="presOf" srcId="{77387065-55A2-4600-9099-5322EF073809}" destId="{E0F78AC1-49F4-4DE1-9C06-7249DB1C80FC}" srcOrd="1" destOrd="0" presId="urn:microsoft.com/office/officeart/2016/7/layout/RepeatingBendingProcessNew"/>
    <dgm:cxn modelId="{5E45D897-A6B1-45C0-A5C9-0C7A578C45D2}" type="presOf" srcId="{DF478BB5-4C7B-44BF-90BD-C889FCA3E3A0}" destId="{438C8404-53BD-4A2F-AD6B-45C13574464F}" srcOrd="0" destOrd="0" presId="urn:microsoft.com/office/officeart/2016/7/layout/RepeatingBendingProcessNew"/>
    <dgm:cxn modelId="{F1FAF1A7-F788-427B-9A0A-88552E2F2123}" type="presOf" srcId="{2FF5C23A-45C9-4978-8082-537FFE7831E0}" destId="{03CEF896-D690-4DC1-95A7-5AA4A32D66B9}" srcOrd="0" destOrd="0" presId="urn:microsoft.com/office/officeart/2016/7/layout/RepeatingBendingProcessNew"/>
    <dgm:cxn modelId="{19E5D8AD-8EE1-4ECC-9820-5B3E58774FFD}" type="presOf" srcId="{0930A065-6944-48BE-9344-A856F87FF687}" destId="{CB9EA3F9-7CFD-4DA9-8131-6F08B35D5D36}" srcOrd="1" destOrd="0" presId="urn:microsoft.com/office/officeart/2016/7/layout/RepeatingBendingProcessNew"/>
    <dgm:cxn modelId="{09DA52CB-DDF1-4F8D-B0A1-1CF8EFD82956}" srcId="{350F3384-39B6-4D0D-9F81-F2A0B84603A3}" destId="{5AB548B8-F94B-404F-9AB1-395B385FD0EB}" srcOrd="0" destOrd="0" parTransId="{C0B8543A-1059-4264-8EBF-E82942E7A5E5}" sibTransId="{2FF5C23A-45C9-4978-8082-537FFE7831E0}"/>
    <dgm:cxn modelId="{3570BECC-1FC0-4E9F-A9F2-51CB7B4C9DEA}" srcId="{350F3384-39B6-4D0D-9F81-F2A0B84603A3}" destId="{9A67B34C-FA8B-4442-B985-D462644123AA}" srcOrd="5" destOrd="0" parTransId="{1A72C1B3-638A-422E-940D-75D561F6BD51}" sibTransId="{BA870928-0123-4CB5-A952-B3F9C6B1CB88}"/>
    <dgm:cxn modelId="{9A1526D5-D687-4873-8418-CB01522FA759}" type="presOf" srcId="{9D909A5F-8CC4-4F66-941B-666D5617A0B4}" destId="{1CA8B14A-017E-4C6C-AF9F-DE0C4DD548C1}" srcOrd="0" destOrd="0" presId="urn:microsoft.com/office/officeart/2016/7/layout/RepeatingBendingProcessNew"/>
    <dgm:cxn modelId="{A5BF5FE7-B205-4199-8152-F809232A55C1}" srcId="{350F3384-39B6-4D0D-9F81-F2A0B84603A3}" destId="{0A6E8730-1A54-442F-A29E-32CEB6B3C5DA}" srcOrd="1" destOrd="0" parTransId="{11B15F13-BA6F-44EC-B02F-860490C0189F}" sibTransId="{01124F81-58A5-4A5C-B9D7-70CE67099C70}"/>
    <dgm:cxn modelId="{60D9B2EC-928E-4B0B-8FBA-F0D665922C21}" type="presOf" srcId="{2FF5C23A-45C9-4978-8082-537FFE7831E0}" destId="{E52FE6B2-7BD8-4B94-8F54-B638F8843AE6}" srcOrd="1" destOrd="0" presId="urn:microsoft.com/office/officeart/2016/7/layout/RepeatingBendingProcessNew"/>
    <dgm:cxn modelId="{7D85C8C4-1B9D-4609-8AC6-98FB5A4A6CDE}" type="presParOf" srcId="{E5905768-9814-4BEA-8869-81A5F795FEE4}" destId="{2559BDFA-9A65-4037-B0EC-1AA010322C0D}" srcOrd="0" destOrd="0" presId="urn:microsoft.com/office/officeart/2016/7/layout/RepeatingBendingProcessNew"/>
    <dgm:cxn modelId="{E75EEE80-3802-439F-A3D4-A1B01074A13C}" type="presParOf" srcId="{E5905768-9814-4BEA-8869-81A5F795FEE4}" destId="{03CEF896-D690-4DC1-95A7-5AA4A32D66B9}" srcOrd="1" destOrd="0" presId="urn:microsoft.com/office/officeart/2016/7/layout/RepeatingBendingProcessNew"/>
    <dgm:cxn modelId="{7997DF76-A45F-4674-885A-335B45CA7760}" type="presParOf" srcId="{03CEF896-D690-4DC1-95A7-5AA4A32D66B9}" destId="{E52FE6B2-7BD8-4B94-8F54-B638F8843AE6}" srcOrd="0" destOrd="0" presId="urn:microsoft.com/office/officeart/2016/7/layout/RepeatingBendingProcessNew"/>
    <dgm:cxn modelId="{B6530218-9B83-4CDD-B968-912891BF0549}" type="presParOf" srcId="{E5905768-9814-4BEA-8869-81A5F795FEE4}" destId="{75AEF454-73A0-4C2C-9185-FF5361092B02}" srcOrd="2" destOrd="0" presId="urn:microsoft.com/office/officeart/2016/7/layout/RepeatingBendingProcessNew"/>
    <dgm:cxn modelId="{D7559DC4-8075-41A6-B82D-005DDDFEF766}" type="presParOf" srcId="{E5905768-9814-4BEA-8869-81A5F795FEE4}" destId="{71BD887A-AC99-474E-8550-C775D4EEAE17}" srcOrd="3" destOrd="0" presId="urn:microsoft.com/office/officeart/2016/7/layout/RepeatingBendingProcessNew"/>
    <dgm:cxn modelId="{F819542B-D432-4E3B-8528-E80C47051CD5}" type="presParOf" srcId="{71BD887A-AC99-474E-8550-C775D4EEAE17}" destId="{0F59CA63-FC97-4BB2-93E7-69F050952FF6}" srcOrd="0" destOrd="0" presId="urn:microsoft.com/office/officeart/2016/7/layout/RepeatingBendingProcessNew"/>
    <dgm:cxn modelId="{6B160D17-BF8C-40B5-9D0B-760133718E4B}" type="presParOf" srcId="{E5905768-9814-4BEA-8869-81A5F795FEE4}" destId="{438C8404-53BD-4A2F-AD6B-45C13574464F}" srcOrd="4" destOrd="0" presId="urn:microsoft.com/office/officeart/2016/7/layout/RepeatingBendingProcessNew"/>
    <dgm:cxn modelId="{977D35FF-C251-4A76-8792-9D409385D15B}" type="presParOf" srcId="{E5905768-9814-4BEA-8869-81A5F795FEE4}" destId="{5D058473-54EA-4E6F-BA45-7646BBD3DDD9}" srcOrd="5" destOrd="0" presId="urn:microsoft.com/office/officeart/2016/7/layout/RepeatingBendingProcessNew"/>
    <dgm:cxn modelId="{85AA9811-3D33-4B14-89FA-0D87D91D5566}" type="presParOf" srcId="{5D058473-54EA-4E6F-BA45-7646BBD3DDD9}" destId="{307334BF-DE5F-410A-97A3-14F4BF521D90}" srcOrd="0" destOrd="0" presId="urn:microsoft.com/office/officeart/2016/7/layout/RepeatingBendingProcessNew"/>
    <dgm:cxn modelId="{664EAFD2-6AE0-420A-A89E-ABC4027E3C29}" type="presParOf" srcId="{E5905768-9814-4BEA-8869-81A5F795FEE4}" destId="{1CA8B14A-017E-4C6C-AF9F-DE0C4DD548C1}" srcOrd="6" destOrd="0" presId="urn:microsoft.com/office/officeart/2016/7/layout/RepeatingBendingProcessNew"/>
    <dgm:cxn modelId="{9DB56E3A-A4F8-439A-826A-8EDDAFF44D87}" type="presParOf" srcId="{E5905768-9814-4BEA-8869-81A5F795FEE4}" destId="{D859DC5E-4F0E-41C8-B0A2-1B04605A53E6}" srcOrd="7" destOrd="0" presId="urn:microsoft.com/office/officeart/2016/7/layout/RepeatingBendingProcessNew"/>
    <dgm:cxn modelId="{245B558E-275A-42EC-8A88-80BEAF04F410}" type="presParOf" srcId="{D859DC5E-4F0E-41C8-B0A2-1B04605A53E6}" destId="{CB9EA3F9-7CFD-4DA9-8131-6F08B35D5D36}" srcOrd="0" destOrd="0" presId="urn:microsoft.com/office/officeart/2016/7/layout/RepeatingBendingProcessNew"/>
    <dgm:cxn modelId="{7088DFA8-A616-458D-8535-15D6DF1FC83C}" type="presParOf" srcId="{E5905768-9814-4BEA-8869-81A5F795FEE4}" destId="{D4851CD2-E130-4268-A3FF-6DD7685239B1}" srcOrd="8" destOrd="0" presId="urn:microsoft.com/office/officeart/2016/7/layout/RepeatingBendingProcessNew"/>
    <dgm:cxn modelId="{E6490431-1DFD-4C57-97F6-268B71F605E6}" type="presParOf" srcId="{E5905768-9814-4BEA-8869-81A5F795FEE4}" destId="{613AC97F-F484-4FF6-9870-D11EE57B20D7}" srcOrd="9" destOrd="0" presId="urn:microsoft.com/office/officeart/2016/7/layout/RepeatingBendingProcessNew"/>
    <dgm:cxn modelId="{1A07C043-33B1-4EFE-9687-0257555168A7}" type="presParOf" srcId="{613AC97F-F484-4FF6-9870-D11EE57B20D7}" destId="{E0F78AC1-49F4-4DE1-9C06-7249DB1C80FC}" srcOrd="0" destOrd="0" presId="urn:microsoft.com/office/officeart/2016/7/layout/RepeatingBendingProcessNew"/>
    <dgm:cxn modelId="{B7E0DE84-8C61-4DD0-BF42-5C704E929AC1}" type="presParOf" srcId="{E5905768-9814-4BEA-8869-81A5F795FEE4}" destId="{853C6C08-FC7E-4E9C-8997-A0F0D10C39A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58BF1E-2F60-40CF-A793-A6C2CA277C9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8465807-113A-46D0-8107-D4E6347178FB}">
      <dgm:prSet/>
      <dgm:spPr/>
      <dgm:t>
        <a:bodyPr/>
        <a:lstStyle/>
        <a:p>
          <a:r>
            <a:rPr lang="es-MX" b="1"/>
            <a:t>Base Rate:</a:t>
          </a:r>
          <a:r>
            <a:rPr lang="es-MX"/>
            <a:t> $500 </a:t>
          </a:r>
          <a:r>
            <a:rPr lang="es-MX" b="1"/>
            <a:t>Factors:</a:t>
          </a:r>
          <a:endParaRPr lang="en-US"/>
        </a:p>
      </dgm:t>
    </dgm:pt>
    <dgm:pt modelId="{37FEE58A-B502-42D9-B9BB-80795253D338}" type="parTrans" cxnId="{B56F2145-2452-4552-B98D-B85BB1C65487}">
      <dgm:prSet/>
      <dgm:spPr/>
      <dgm:t>
        <a:bodyPr/>
        <a:lstStyle/>
        <a:p>
          <a:endParaRPr lang="en-US"/>
        </a:p>
      </dgm:t>
    </dgm:pt>
    <dgm:pt modelId="{D860D812-DACB-45C9-AF79-7B8357486066}" type="sibTrans" cxnId="{B56F2145-2452-4552-B98D-B85BB1C65487}">
      <dgm:prSet/>
      <dgm:spPr/>
      <dgm:t>
        <a:bodyPr/>
        <a:lstStyle/>
        <a:p>
          <a:endParaRPr lang="en-US"/>
        </a:p>
      </dgm:t>
    </dgm:pt>
    <dgm:pt modelId="{23649F99-160F-408A-B909-F33D118AFCB3}">
      <dgm:prSet/>
      <dgm:spPr/>
      <dgm:t>
        <a:bodyPr/>
        <a:lstStyle/>
        <a:p>
          <a:r>
            <a:rPr lang="es-MX"/>
            <a:t>State factor (CA 1.25, NY 1.30, FL 1.40, TX 1.10, IL 1.05, others 1.0)</a:t>
          </a:r>
          <a:endParaRPr lang="en-US"/>
        </a:p>
      </dgm:t>
    </dgm:pt>
    <dgm:pt modelId="{A852C605-377D-4E33-B279-C4F1757D8B5F}" type="parTrans" cxnId="{AA13CB91-2615-478F-AE36-50FF591E6654}">
      <dgm:prSet/>
      <dgm:spPr/>
      <dgm:t>
        <a:bodyPr/>
        <a:lstStyle/>
        <a:p>
          <a:endParaRPr lang="en-US"/>
        </a:p>
      </dgm:t>
    </dgm:pt>
    <dgm:pt modelId="{2B2AC340-6F16-40DD-8474-09C39EE7AF40}" type="sibTrans" cxnId="{AA13CB91-2615-478F-AE36-50FF591E6654}">
      <dgm:prSet/>
      <dgm:spPr/>
      <dgm:t>
        <a:bodyPr/>
        <a:lstStyle/>
        <a:p>
          <a:endParaRPr lang="en-US"/>
        </a:p>
      </dgm:t>
    </dgm:pt>
    <dgm:pt modelId="{1B3D4AF0-4EF7-4394-A297-F3F938BEBE59}">
      <dgm:prSet/>
      <dgm:spPr/>
      <dgm:t>
        <a:bodyPr/>
        <a:lstStyle/>
        <a:p>
          <a:r>
            <a:rPr lang="es-MX"/>
            <a:t>Age factor (&lt;25 → 1.6, &gt;65 → 1.2, others 1.0)</a:t>
          </a:r>
          <a:endParaRPr lang="en-US"/>
        </a:p>
      </dgm:t>
    </dgm:pt>
    <dgm:pt modelId="{514EA330-6930-4529-95FE-254A6927AD29}" type="parTrans" cxnId="{B362824C-3EC7-4DE4-8E56-2988CDC20C8F}">
      <dgm:prSet/>
      <dgm:spPr/>
      <dgm:t>
        <a:bodyPr/>
        <a:lstStyle/>
        <a:p>
          <a:endParaRPr lang="en-US"/>
        </a:p>
      </dgm:t>
    </dgm:pt>
    <dgm:pt modelId="{99BD85B5-F6D1-45AE-A6CB-C5C69F019D0F}" type="sibTrans" cxnId="{B362824C-3EC7-4DE4-8E56-2988CDC20C8F}">
      <dgm:prSet/>
      <dgm:spPr/>
      <dgm:t>
        <a:bodyPr/>
        <a:lstStyle/>
        <a:p>
          <a:endParaRPr lang="en-US"/>
        </a:p>
      </dgm:t>
    </dgm:pt>
    <dgm:pt modelId="{513F98D1-7233-420C-9D59-E4DC94B9DDFE}">
      <dgm:prSet/>
      <dgm:spPr/>
      <dgm:t>
        <a:bodyPr/>
        <a:lstStyle/>
        <a:p>
          <a:r>
            <a:rPr lang="es-MX"/>
            <a:t>Vehicle factor = 1.0 + (symbol − 10)/100</a:t>
          </a:r>
          <a:endParaRPr lang="en-US"/>
        </a:p>
      </dgm:t>
    </dgm:pt>
    <dgm:pt modelId="{2C29EE77-1913-4C1E-BB33-B044107F1E99}" type="parTrans" cxnId="{EBE65658-52C4-40C1-87BE-E554B38585AE}">
      <dgm:prSet/>
      <dgm:spPr/>
      <dgm:t>
        <a:bodyPr/>
        <a:lstStyle/>
        <a:p>
          <a:endParaRPr lang="en-US"/>
        </a:p>
      </dgm:t>
    </dgm:pt>
    <dgm:pt modelId="{2E624D90-EE35-442F-BBBD-C28C333EE2B6}" type="sibTrans" cxnId="{EBE65658-52C4-40C1-87BE-E554B38585AE}">
      <dgm:prSet/>
      <dgm:spPr/>
      <dgm:t>
        <a:bodyPr/>
        <a:lstStyle/>
        <a:p>
          <a:endParaRPr lang="en-US"/>
        </a:p>
      </dgm:t>
    </dgm:pt>
    <dgm:pt modelId="{ECCF5645-7AB7-43C4-87F3-E8697AA00FE4}">
      <dgm:prSet/>
      <dgm:spPr/>
      <dgm:t>
        <a:bodyPr/>
        <a:lstStyle/>
        <a:p>
          <a:r>
            <a:rPr lang="es-MX"/>
            <a:t>Claims surcharge = 1.0 + 0.25 × claims</a:t>
          </a:r>
          <a:endParaRPr lang="en-US"/>
        </a:p>
      </dgm:t>
    </dgm:pt>
    <dgm:pt modelId="{7B474605-AA52-4C3F-9282-63911D1FF45F}" type="parTrans" cxnId="{52589C27-1B85-4B67-9ED1-312ADE45D2BA}">
      <dgm:prSet/>
      <dgm:spPr/>
      <dgm:t>
        <a:bodyPr/>
        <a:lstStyle/>
        <a:p>
          <a:endParaRPr lang="en-US"/>
        </a:p>
      </dgm:t>
    </dgm:pt>
    <dgm:pt modelId="{54B38572-CF7F-4DE6-871E-BA641CACC19B}" type="sibTrans" cxnId="{52589C27-1B85-4B67-9ED1-312ADE45D2BA}">
      <dgm:prSet/>
      <dgm:spPr/>
      <dgm:t>
        <a:bodyPr/>
        <a:lstStyle/>
        <a:p>
          <a:endParaRPr lang="en-US"/>
        </a:p>
      </dgm:t>
    </dgm:pt>
    <dgm:pt modelId="{8BD268B0-A146-4F7C-93B8-A597C6EED78C}">
      <dgm:prSet/>
      <dgm:spPr/>
      <dgm:t>
        <a:bodyPr/>
        <a:lstStyle/>
        <a:p>
          <a:r>
            <a:rPr lang="es-MX"/>
            <a:t>Term factor = months / 12 </a:t>
          </a:r>
          <a:r>
            <a:rPr lang="es-MX" b="1"/>
            <a:t>Final Premium:</a:t>
          </a:r>
          <a:r>
            <a:rPr lang="es-MX"/>
            <a:t> Multiplicative combination of all factors.</a:t>
          </a:r>
          <a:endParaRPr lang="en-US"/>
        </a:p>
      </dgm:t>
    </dgm:pt>
    <dgm:pt modelId="{5C2A49A7-A42B-4437-B400-88616886B26F}" type="parTrans" cxnId="{0A80BF79-47EB-4931-A675-64A63F7DEE0D}">
      <dgm:prSet/>
      <dgm:spPr/>
      <dgm:t>
        <a:bodyPr/>
        <a:lstStyle/>
        <a:p>
          <a:endParaRPr lang="en-US"/>
        </a:p>
      </dgm:t>
    </dgm:pt>
    <dgm:pt modelId="{541FA8D9-6AA3-4F85-97AF-6F87B4AA7B72}" type="sibTrans" cxnId="{0A80BF79-47EB-4931-A675-64A63F7DEE0D}">
      <dgm:prSet/>
      <dgm:spPr/>
      <dgm:t>
        <a:bodyPr/>
        <a:lstStyle/>
        <a:p>
          <a:endParaRPr lang="en-US"/>
        </a:p>
      </dgm:t>
    </dgm:pt>
    <dgm:pt modelId="{C8FE5442-619C-4138-9022-83EDF83558E7}" type="pres">
      <dgm:prSet presAssocID="{B158BF1E-2F60-40CF-A793-A6C2CA277C9A}" presName="linear" presStyleCnt="0">
        <dgm:presLayoutVars>
          <dgm:animLvl val="lvl"/>
          <dgm:resizeHandles val="exact"/>
        </dgm:presLayoutVars>
      </dgm:prSet>
      <dgm:spPr/>
    </dgm:pt>
    <dgm:pt modelId="{33223108-FF79-4E9B-A480-ADAD69EBB299}" type="pres">
      <dgm:prSet presAssocID="{F8465807-113A-46D0-8107-D4E6347178FB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0B82823-34DB-4369-ABBA-4A029248EE5A}" type="pres">
      <dgm:prSet presAssocID="{D860D812-DACB-45C9-AF79-7B8357486066}" presName="spacer" presStyleCnt="0"/>
      <dgm:spPr/>
    </dgm:pt>
    <dgm:pt modelId="{5F05FFEC-35AB-4D68-8915-7C9F97B195AC}" type="pres">
      <dgm:prSet presAssocID="{23649F99-160F-408A-B909-F33D118AFCB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167E3E2-FB8B-4E94-8942-A77C8C99F929}" type="pres">
      <dgm:prSet presAssocID="{2B2AC340-6F16-40DD-8474-09C39EE7AF40}" presName="spacer" presStyleCnt="0"/>
      <dgm:spPr/>
    </dgm:pt>
    <dgm:pt modelId="{66D89F80-6511-4B17-9E14-72092C813A59}" type="pres">
      <dgm:prSet presAssocID="{1B3D4AF0-4EF7-4394-A297-F3F938BEBE5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15818CC-D9E2-48F0-A4B2-29CA919FBBD4}" type="pres">
      <dgm:prSet presAssocID="{99BD85B5-F6D1-45AE-A6CB-C5C69F019D0F}" presName="spacer" presStyleCnt="0"/>
      <dgm:spPr/>
    </dgm:pt>
    <dgm:pt modelId="{C07845B7-59B9-4EC1-839C-5862FA477618}" type="pres">
      <dgm:prSet presAssocID="{513F98D1-7233-420C-9D59-E4DC94B9DDF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38753AEA-A865-4518-8DA0-CF41823F0E01}" type="pres">
      <dgm:prSet presAssocID="{2E624D90-EE35-442F-BBBD-C28C333EE2B6}" presName="spacer" presStyleCnt="0"/>
      <dgm:spPr/>
    </dgm:pt>
    <dgm:pt modelId="{638AEB71-837D-443D-B629-36F35B207FA2}" type="pres">
      <dgm:prSet presAssocID="{ECCF5645-7AB7-43C4-87F3-E8697AA00FE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F5822E4-B3E8-4ECF-9EEF-F28DCBF0A657}" type="pres">
      <dgm:prSet presAssocID="{54B38572-CF7F-4DE6-871E-BA641CACC19B}" presName="spacer" presStyleCnt="0"/>
      <dgm:spPr/>
    </dgm:pt>
    <dgm:pt modelId="{25B99276-F5B6-4C0E-9468-B6DB8E8B7C11}" type="pres">
      <dgm:prSet presAssocID="{8BD268B0-A146-4F7C-93B8-A597C6EED78C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52589C27-1B85-4B67-9ED1-312ADE45D2BA}" srcId="{B158BF1E-2F60-40CF-A793-A6C2CA277C9A}" destId="{ECCF5645-7AB7-43C4-87F3-E8697AA00FE4}" srcOrd="4" destOrd="0" parTransId="{7B474605-AA52-4C3F-9282-63911D1FF45F}" sibTransId="{54B38572-CF7F-4DE6-871E-BA641CACC19B}"/>
    <dgm:cxn modelId="{A87D5B43-01B9-4266-9056-9FF74A3977DC}" type="presOf" srcId="{F8465807-113A-46D0-8107-D4E6347178FB}" destId="{33223108-FF79-4E9B-A480-ADAD69EBB299}" srcOrd="0" destOrd="0" presId="urn:microsoft.com/office/officeart/2005/8/layout/vList2"/>
    <dgm:cxn modelId="{B56F2145-2452-4552-B98D-B85BB1C65487}" srcId="{B158BF1E-2F60-40CF-A793-A6C2CA277C9A}" destId="{F8465807-113A-46D0-8107-D4E6347178FB}" srcOrd="0" destOrd="0" parTransId="{37FEE58A-B502-42D9-B9BB-80795253D338}" sibTransId="{D860D812-DACB-45C9-AF79-7B8357486066}"/>
    <dgm:cxn modelId="{1ECFEB68-CFCE-4673-8022-45AA7B9931AF}" type="presOf" srcId="{B158BF1E-2F60-40CF-A793-A6C2CA277C9A}" destId="{C8FE5442-619C-4138-9022-83EDF83558E7}" srcOrd="0" destOrd="0" presId="urn:microsoft.com/office/officeart/2005/8/layout/vList2"/>
    <dgm:cxn modelId="{B362824C-3EC7-4DE4-8E56-2988CDC20C8F}" srcId="{B158BF1E-2F60-40CF-A793-A6C2CA277C9A}" destId="{1B3D4AF0-4EF7-4394-A297-F3F938BEBE59}" srcOrd="2" destOrd="0" parTransId="{514EA330-6930-4529-95FE-254A6927AD29}" sibTransId="{99BD85B5-F6D1-45AE-A6CB-C5C69F019D0F}"/>
    <dgm:cxn modelId="{EBE65658-52C4-40C1-87BE-E554B38585AE}" srcId="{B158BF1E-2F60-40CF-A793-A6C2CA277C9A}" destId="{513F98D1-7233-420C-9D59-E4DC94B9DDFE}" srcOrd="3" destOrd="0" parTransId="{2C29EE77-1913-4C1E-BB33-B044107F1E99}" sibTransId="{2E624D90-EE35-442F-BBBD-C28C333EE2B6}"/>
    <dgm:cxn modelId="{D7B06159-CD7B-48CE-A7FC-6929376BE399}" type="presOf" srcId="{513F98D1-7233-420C-9D59-E4DC94B9DDFE}" destId="{C07845B7-59B9-4EC1-839C-5862FA477618}" srcOrd="0" destOrd="0" presId="urn:microsoft.com/office/officeart/2005/8/layout/vList2"/>
    <dgm:cxn modelId="{0A80BF79-47EB-4931-A675-64A63F7DEE0D}" srcId="{B158BF1E-2F60-40CF-A793-A6C2CA277C9A}" destId="{8BD268B0-A146-4F7C-93B8-A597C6EED78C}" srcOrd="5" destOrd="0" parTransId="{5C2A49A7-A42B-4437-B400-88616886B26F}" sibTransId="{541FA8D9-6AA3-4F85-97AF-6F87B4AA7B72}"/>
    <dgm:cxn modelId="{AA13CB91-2615-478F-AE36-50FF591E6654}" srcId="{B158BF1E-2F60-40CF-A793-A6C2CA277C9A}" destId="{23649F99-160F-408A-B909-F33D118AFCB3}" srcOrd="1" destOrd="0" parTransId="{A852C605-377D-4E33-B279-C4F1757D8B5F}" sibTransId="{2B2AC340-6F16-40DD-8474-09C39EE7AF40}"/>
    <dgm:cxn modelId="{AFCE43BF-8DCD-48AE-B61C-879CD54ED89D}" type="presOf" srcId="{1B3D4AF0-4EF7-4394-A297-F3F938BEBE59}" destId="{66D89F80-6511-4B17-9E14-72092C813A59}" srcOrd="0" destOrd="0" presId="urn:microsoft.com/office/officeart/2005/8/layout/vList2"/>
    <dgm:cxn modelId="{311B14C3-3210-4F74-BC78-164571DB1C4C}" type="presOf" srcId="{ECCF5645-7AB7-43C4-87F3-E8697AA00FE4}" destId="{638AEB71-837D-443D-B629-36F35B207FA2}" srcOrd="0" destOrd="0" presId="urn:microsoft.com/office/officeart/2005/8/layout/vList2"/>
    <dgm:cxn modelId="{F1D597EE-9A67-4E82-B193-EF69922C4702}" type="presOf" srcId="{8BD268B0-A146-4F7C-93B8-A597C6EED78C}" destId="{25B99276-F5B6-4C0E-9468-B6DB8E8B7C11}" srcOrd="0" destOrd="0" presId="urn:microsoft.com/office/officeart/2005/8/layout/vList2"/>
    <dgm:cxn modelId="{D1E507FB-D371-4C1F-AA48-9C70129D57BC}" type="presOf" srcId="{23649F99-160F-408A-B909-F33D118AFCB3}" destId="{5F05FFEC-35AB-4D68-8915-7C9F97B195AC}" srcOrd="0" destOrd="0" presId="urn:microsoft.com/office/officeart/2005/8/layout/vList2"/>
    <dgm:cxn modelId="{3E518931-1805-4710-AB92-E64089C3F2A8}" type="presParOf" srcId="{C8FE5442-619C-4138-9022-83EDF83558E7}" destId="{33223108-FF79-4E9B-A480-ADAD69EBB299}" srcOrd="0" destOrd="0" presId="urn:microsoft.com/office/officeart/2005/8/layout/vList2"/>
    <dgm:cxn modelId="{BFC003E0-452A-4F67-BC6E-9FF3D32F0FA4}" type="presParOf" srcId="{C8FE5442-619C-4138-9022-83EDF83558E7}" destId="{50B82823-34DB-4369-ABBA-4A029248EE5A}" srcOrd="1" destOrd="0" presId="urn:microsoft.com/office/officeart/2005/8/layout/vList2"/>
    <dgm:cxn modelId="{07B2A47D-50BF-48F8-8A35-25BF22DC02CB}" type="presParOf" srcId="{C8FE5442-619C-4138-9022-83EDF83558E7}" destId="{5F05FFEC-35AB-4D68-8915-7C9F97B195AC}" srcOrd="2" destOrd="0" presId="urn:microsoft.com/office/officeart/2005/8/layout/vList2"/>
    <dgm:cxn modelId="{381D1555-E8A8-4245-A0D8-923133F645F0}" type="presParOf" srcId="{C8FE5442-619C-4138-9022-83EDF83558E7}" destId="{3167E3E2-FB8B-4E94-8942-A77C8C99F929}" srcOrd="3" destOrd="0" presId="urn:microsoft.com/office/officeart/2005/8/layout/vList2"/>
    <dgm:cxn modelId="{AFC31035-FA81-4B98-9CEF-B4F0F515925B}" type="presParOf" srcId="{C8FE5442-619C-4138-9022-83EDF83558E7}" destId="{66D89F80-6511-4B17-9E14-72092C813A59}" srcOrd="4" destOrd="0" presId="urn:microsoft.com/office/officeart/2005/8/layout/vList2"/>
    <dgm:cxn modelId="{D5C6E447-AD1B-4A91-B6AE-456F663CCC67}" type="presParOf" srcId="{C8FE5442-619C-4138-9022-83EDF83558E7}" destId="{815818CC-D9E2-48F0-A4B2-29CA919FBBD4}" srcOrd="5" destOrd="0" presId="urn:microsoft.com/office/officeart/2005/8/layout/vList2"/>
    <dgm:cxn modelId="{D3EAF435-DBA4-49A1-B6B1-E97FE506F575}" type="presParOf" srcId="{C8FE5442-619C-4138-9022-83EDF83558E7}" destId="{C07845B7-59B9-4EC1-839C-5862FA477618}" srcOrd="6" destOrd="0" presId="urn:microsoft.com/office/officeart/2005/8/layout/vList2"/>
    <dgm:cxn modelId="{76CBE857-5DAE-4D96-8CEA-89C26FFD6EEA}" type="presParOf" srcId="{C8FE5442-619C-4138-9022-83EDF83558E7}" destId="{38753AEA-A865-4518-8DA0-CF41823F0E01}" srcOrd="7" destOrd="0" presId="urn:microsoft.com/office/officeart/2005/8/layout/vList2"/>
    <dgm:cxn modelId="{8D33DFDC-1421-4AEB-B23F-9361A82D3DFA}" type="presParOf" srcId="{C8FE5442-619C-4138-9022-83EDF83558E7}" destId="{638AEB71-837D-443D-B629-36F35B207FA2}" srcOrd="8" destOrd="0" presId="urn:microsoft.com/office/officeart/2005/8/layout/vList2"/>
    <dgm:cxn modelId="{AD90244B-D5A5-47DF-A513-053EFB273B06}" type="presParOf" srcId="{C8FE5442-619C-4138-9022-83EDF83558E7}" destId="{2F5822E4-B3E8-4ECF-9EEF-F28DCBF0A657}" srcOrd="9" destOrd="0" presId="urn:microsoft.com/office/officeart/2005/8/layout/vList2"/>
    <dgm:cxn modelId="{9D3DF465-1B3D-4E82-9FDE-BE4FD37D8FF3}" type="presParOf" srcId="{C8FE5442-619C-4138-9022-83EDF83558E7}" destId="{25B99276-F5B6-4C0E-9468-B6DB8E8B7C1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CEF896-D690-4DC1-95A7-5AA4A32D66B9}">
      <dsp:nvSpPr>
        <dsp:cNvPr id="0" name=""/>
        <dsp:cNvSpPr/>
      </dsp:nvSpPr>
      <dsp:spPr>
        <a:xfrm>
          <a:off x="3040792" y="871221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3451"/>
        <a:ext cx="34897" cy="6979"/>
      </dsp:txXfrm>
    </dsp:sp>
    <dsp:sp modelId="{2559BDFA-9A65-4037-B0EC-1AA010322C0D}">
      <dsp:nvSpPr>
        <dsp:cNvPr id="0" name=""/>
        <dsp:cNvSpPr/>
      </dsp:nvSpPr>
      <dsp:spPr>
        <a:xfrm>
          <a:off x="8061" y="6582"/>
          <a:ext cx="3034531" cy="18207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b="1" kern="1200" dirty="0"/>
            <a:t>Pipeline:</a:t>
          </a:r>
          <a:r>
            <a:rPr lang="es-MX" sz="3500" kern="1200" dirty="0"/>
            <a:t> </a:t>
          </a:r>
          <a:r>
            <a:rPr lang="es-MX" sz="3500" kern="1200" dirty="0" err="1"/>
            <a:t>Synthetic</a:t>
          </a:r>
          <a:r>
            <a:rPr lang="es-MX" sz="3500" kern="1200" dirty="0"/>
            <a:t> Data </a:t>
          </a:r>
          <a:endParaRPr lang="en-US" sz="3500" kern="1200" dirty="0"/>
        </a:p>
      </dsp:txBody>
      <dsp:txXfrm>
        <a:off x="8061" y="6582"/>
        <a:ext cx="3034531" cy="1820718"/>
      </dsp:txXfrm>
    </dsp:sp>
    <dsp:sp modelId="{71BD887A-AC99-474E-8550-C775D4EEAE17}">
      <dsp:nvSpPr>
        <dsp:cNvPr id="0" name=""/>
        <dsp:cNvSpPr/>
      </dsp:nvSpPr>
      <dsp:spPr>
        <a:xfrm>
          <a:off x="6773265" y="871221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3451"/>
        <a:ext cx="34897" cy="6979"/>
      </dsp:txXfrm>
    </dsp:sp>
    <dsp:sp modelId="{75AEF454-73A0-4C2C-9185-FF5361092B02}">
      <dsp:nvSpPr>
        <dsp:cNvPr id="0" name=""/>
        <dsp:cNvSpPr/>
      </dsp:nvSpPr>
      <dsp:spPr>
        <a:xfrm>
          <a:off x="3740534" y="6582"/>
          <a:ext cx="3034531" cy="18207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 err="1"/>
            <a:t>Preprocessing</a:t>
          </a:r>
          <a:r>
            <a:rPr lang="es-MX" sz="3500" kern="1200" dirty="0"/>
            <a:t> </a:t>
          </a:r>
          <a:endParaRPr lang="en-US" sz="3500" kern="1200" dirty="0"/>
        </a:p>
      </dsp:txBody>
      <dsp:txXfrm>
        <a:off x="3740534" y="6582"/>
        <a:ext cx="3034531" cy="1820718"/>
      </dsp:txXfrm>
    </dsp:sp>
    <dsp:sp modelId="{5D058473-54EA-4E6F-BA45-7646BBD3DDD9}">
      <dsp:nvSpPr>
        <dsp:cNvPr id="0" name=""/>
        <dsp:cNvSpPr/>
      </dsp:nvSpPr>
      <dsp:spPr>
        <a:xfrm>
          <a:off x="1525326" y="1825500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682"/>
        <a:ext cx="374875" cy="6979"/>
      </dsp:txXfrm>
    </dsp:sp>
    <dsp:sp modelId="{438C8404-53BD-4A2F-AD6B-45C13574464F}">
      <dsp:nvSpPr>
        <dsp:cNvPr id="0" name=""/>
        <dsp:cNvSpPr/>
      </dsp:nvSpPr>
      <dsp:spPr>
        <a:xfrm>
          <a:off x="7473007" y="6582"/>
          <a:ext cx="3034531" cy="18207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Rating Engine  </a:t>
          </a:r>
          <a:endParaRPr lang="en-US" sz="3500" kern="1200" dirty="0"/>
        </a:p>
      </dsp:txBody>
      <dsp:txXfrm>
        <a:off x="7473007" y="6582"/>
        <a:ext cx="3034531" cy="1820718"/>
      </dsp:txXfrm>
    </dsp:sp>
    <dsp:sp modelId="{D859DC5E-4F0E-41C8-B0A2-1B04605A53E6}">
      <dsp:nvSpPr>
        <dsp:cNvPr id="0" name=""/>
        <dsp:cNvSpPr/>
      </dsp:nvSpPr>
      <dsp:spPr>
        <a:xfrm>
          <a:off x="3040792" y="3389882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2112"/>
        <a:ext cx="34897" cy="6979"/>
      </dsp:txXfrm>
    </dsp:sp>
    <dsp:sp modelId="{1CA8B14A-017E-4C6C-AF9F-DE0C4DD548C1}">
      <dsp:nvSpPr>
        <dsp:cNvPr id="0" name=""/>
        <dsp:cNvSpPr/>
      </dsp:nvSpPr>
      <dsp:spPr>
        <a:xfrm>
          <a:off x="8061" y="2525243"/>
          <a:ext cx="3034531" cy="18207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 err="1"/>
            <a:t>XGBoost</a:t>
          </a:r>
          <a:r>
            <a:rPr lang="es-MX" sz="3500" kern="1200" dirty="0"/>
            <a:t> Model  </a:t>
          </a:r>
          <a:endParaRPr lang="en-US" sz="3500" kern="1200" dirty="0"/>
        </a:p>
      </dsp:txBody>
      <dsp:txXfrm>
        <a:off x="8061" y="2525243"/>
        <a:ext cx="3034531" cy="1820718"/>
      </dsp:txXfrm>
    </dsp:sp>
    <dsp:sp modelId="{613AC97F-F484-4FF6-9870-D11EE57B20D7}">
      <dsp:nvSpPr>
        <dsp:cNvPr id="0" name=""/>
        <dsp:cNvSpPr/>
      </dsp:nvSpPr>
      <dsp:spPr>
        <a:xfrm>
          <a:off x="6773265" y="3389882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2112"/>
        <a:ext cx="34897" cy="6979"/>
      </dsp:txXfrm>
    </dsp:sp>
    <dsp:sp modelId="{D4851CD2-E130-4268-A3FF-6DD7685239B1}">
      <dsp:nvSpPr>
        <dsp:cNvPr id="0" name=""/>
        <dsp:cNvSpPr/>
      </dsp:nvSpPr>
      <dsp:spPr>
        <a:xfrm>
          <a:off x="3740534" y="2525243"/>
          <a:ext cx="3034531" cy="18207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SHAP </a:t>
          </a:r>
          <a:r>
            <a:rPr lang="es-MX" sz="3500" kern="1200" dirty="0" err="1"/>
            <a:t>Explainability</a:t>
          </a:r>
          <a:r>
            <a:rPr lang="es-MX" sz="3500" kern="1200" dirty="0"/>
            <a:t> </a:t>
          </a:r>
          <a:endParaRPr lang="en-US" sz="3500" kern="1200" dirty="0"/>
        </a:p>
      </dsp:txBody>
      <dsp:txXfrm>
        <a:off x="3740534" y="2525243"/>
        <a:ext cx="3034531" cy="1820718"/>
      </dsp:txXfrm>
    </dsp:sp>
    <dsp:sp modelId="{853C6C08-FC7E-4E9C-8997-A0F0D10C39AB}">
      <dsp:nvSpPr>
        <dsp:cNvPr id="0" name=""/>
        <dsp:cNvSpPr/>
      </dsp:nvSpPr>
      <dsp:spPr>
        <a:xfrm>
          <a:off x="7473007" y="2525243"/>
          <a:ext cx="3034531" cy="182071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500" kern="1200" dirty="0"/>
            <a:t>Excel </a:t>
          </a:r>
          <a:r>
            <a:rPr lang="es-MX" sz="3500" kern="1200" dirty="0" err="1"/>
            <a:t>Dashboard</a:t>
          </a:r>
          <a:endParaRPr lang="en-US" sz="3500" kern="1200" dirty="0"/>
        </a:p>
      </dsp:txBody>
      <dsp:txXfrm>
        <a:off x="7473007" y="2525243"/>
        <a:ext cx="3034531" cy="18207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223108-FF79-4E9B-A480-ADAD69EBB299}">
      <dsp:nvSpPr>
        <dsp:cNvPr id="0" name=""/>
        <dsp:cNvSpPr/>
      </dsp:nvSpPr>
      <dsp:spPr>
        <a:xfrm>
          <a:off x="0" y="115488"/>
          <a:ext cx="6253721" cy="75859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b="1" kern="1200"/>
            <a:t>Base Rate:</a:t>
          </a:r>
          <a:r>
            <a:rPr lang="es-MX" sz="1900" kern="1200"/>
            <a:t> $500 </a:t>
          </a:r>
          <a:r>
            <a:rPr lang="es-MX" sz="1900" b="1" kern="1200"/>
            <a:t>Factors:</a:t>
          </a:r>
          <a:endParaRPr lang="en-US" sz="1900" kern="1200"/>
        </a:p>
      </dsp:txBody>
      <dsp:txXfrm>
        <a:off x="37032" y="152520"/>
        <a:ext cx="6179657" cy="684534"/>
      </dsp:txXfrm>
    </dsp:sp>
    <dsp:sp modelId="{5F05FFEC-35AB-4D68-8915-7C9F97B195AC}">
      <dsp:nvSpPr>
        <dsp:cNvPr id="0" name=""/>
        <dsp:cNvSpPr/>
      </dsp:nvSpPr>
      <dsp:spPr>
        <a:xfrm>
          <a:off x="0" y="928807"/>
          <a:ext cx="6253721" cy="758598"/>
        </a:xfrm>
        <a:prstGeom prst="round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State factor (CA 1.25, NY 1.30, FL 1.40, TX 1.10, IL 1.05, others 1.0)</a:t>
          </a:r>
          <a:endParaRPr lang="en-US" sz="1900" kern="1200"/>
        </a:p>
      </dsp:txBody>
      <dsp:txXfrm>
        <a:off x="37032" y="965839"/>
        <a:ext cx="6179657" cy="684534"/>
      </dsp:txXfrm>
    </dsp:sp>
    <dsp:sp modelId="{66D89F80-6511-4B17-9E14-72092C813A59}">
      <dsp:nvSpPr>
        <dsp:cNvPr id="0" name=""/>
        <dsp:cNvSpPr/>
      </dsp:nvSpPr>
      <dsp:spPr>
        <a:xfrm>
          <a:off x="0" y="1742126"/>
          <a:ext cx="6253721" cy="758598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Age factor (&lt;25 → 1.6, &gt;65 → 1.2, others 1.0)</a:t>
          </a:r>
          <a:endParaRPr lang="en-US" sz="1900" kern="1200"/>
        </a:p>
      </dsp:txBody>
      <dsp:txXfrm>
        <a:off x="37032" y="1779158"/>
        <a:ext cx="6179657" cy="684534"/>
      </dsp:txXfrm>
    </dsp:sp>
    <dsp:sp modelId="{C07845B7-59B9-4EC1-839C-5862FA477618}">
      <dsp:nvSpPr>
        <dsp:cNvPr id="0" name=""/>
        <dsp:cNvSpPr/>
      </dsp:nvSpPr>
      <dsp:spPr>
        <a:xfrm>
          <a:off x="0" y="2555445"/>
          <a:ext cx="6253721" cy="758598"/>
        </a:xfrm>
        <a:prstGeom prst="round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Vehicle factor = 1.0 + (symbol − 10)/100</a:t>
          </a:r>
          <a:endParaRPr lang="en-US" sz="1900" kern="1200"/>
        </a:p>
      </dsp:txBody>
      <dsp:txXfrm>
        <a:off x="37032" y="2592477"/>
        <a:ext cx="6179657" cy="684534"/>
      </dsp:txXfrm>
    </dsp:sp>
    <dsp:sp modelId="{638AEB71-837D-443D-B629-36F35B207FA2}">
      <dsp:nvSpPr>
        <dsp:cNvPr id="0" name=""/>
        <dsp:cNvSpPr/>
      </dsp:nvSpPr>
      <dsp:spPr>
        <a:xfrm>
          <a:off x="0" y="3368763"/>
          <a:ext cx="6253721" cy="758598"/>
        </a:xfrm>
        <a:prstGeom prst="round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Claims surcharge = 1.0 + 0.25 × claims</a:t>
          </a:r>
          <a:endParaRPr lang="en-US" sz="1900" kern="1200"/>
        </a:p>
      </dsp:txBody>
      <dsp:txXfrm>
        <a:off x="37032" y="3405795"/>
        <a:ext cx="6179657" cy="684534"/>
      </dsp:txXfrm>
    </dsp:sp>
    <dsp:sp modelId="{25B99276-F5B6-4C0E-9468-B6DB8E8B7C11}">
      <dsp:nvSpPr>
        <dsp:cNvPr id="0" name=""/>
        <dsp:cNvSpPr/>
      </dsp:nvSpPr>
      <dsp:spPr>
        <a:xfrm>
          <a:off x="0" y="4182082"/>
          <a:ext cx="6253721" cy="758598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kern="1200"/>
            <a:t>Term factor = months / 12 </a:t>
          </a:r>
          <a:r>
            <a:rPr lang="es-MX" sz="1900" b="1" kern="1200"/>
            <a:t>Final Premium:</a:t>
          </a:r>
          <a:r>
            <a:rPr lang="es-MX" sz="1900" kern="1200"/>
            <a:t> Multiplicative combination of all factors.</a:t>
          </a:r>
          <a:endParaRPr lang="en-US" sz="1900" kern="1200"/>
        </a:p>
      </dsp:txBody>
      <dsp:txXfrm>
        <a:off x="37032" y="4219114"/>
        <a:ext cx="6179657" cy="6845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9A4D28-768D-49DE-9A94-09F374AD73E4}" type="datetimeFigureOut">
              <a:rPr lang="es-MX" smtClean="0"/>
              <a:t>15/10/2026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7031E-A684-4B46-93A1-9B05971ED7C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1573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7031E-A684-4B46-93A1-9B05971ED7CA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51418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7031E-A684-4B46-93A1-9B05971ED7CA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47828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7163D-1A62-1A84-BE21-C097FD951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86C5A1-EA2F-98D9-E49F-9EFB1EF994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1B029F-2EE7-7AD2-4BE6-D17AE8455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9DDB-A43C-471D-9886-E48ECD218CFE}" type="datetimeFigureOut">
              <a:rPr lang="es-MX" smtClean="0"/>
              <a:t>15/10/2026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108D67-5324-DFE1-38AE-70F42D097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3C9F7B-6546-F39A-036B-029AE98E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D6B0-D28D-4D20-BBCB-6C8BE6DE1A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553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F219CB-4D73-11C4-4689-AC2C68163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7CD22E-3EF5-F8EC-E9CA-F73066F66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DFC09A-EE98-1AE3-9E4D-5A9A7D0E6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9DDB-A43C-471D-9886-E48ECD218CFE}" type="datetimeFigureOut">
              <a:rPr lang="es-MX" smtClean="0"/>
              <a:t>15/10/2026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86E599-1609-72AC-9206-DA5E66C7E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9EB9D0-DC44-B005-1F20-B1FD943D6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D6B0-D28D-4D20-BBCB-6C8BE6DE1A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3140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385C5F-311E-F743-9B73-725C51ED2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7E723F-56BD-2571-5699-A049AB67C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AB8439-FE31-C834-307A-0B5A528FE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9DDB-A43C-471D-9886-E48ECD218CFE}" type="datetimeFigureOut">
              <a:rPr lang="es-MX" smtClean="0"/>
              <a:t>15/10/2026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75912D-20B7-6009-4FE4-A2C84ECF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1E9429-1DB5-5EE3-D585-F81C1F628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D6B0-D28D-4D20-BBCB-6C8BE6DE1A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4917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40DB34-2BEF-CA75-7A0A-A91F22B9F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FD9E30-6A50-0A29-AEA5-4CE3CB56FD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09F6E8-DD76-29B4-8182-9CF2F9361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6911EA-93D1-6EC6-3E73-5BD751488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9DDB-A43C-471D-9886-E48ECD218CFE}" type="datetimeFigureOut">
              <a:rPr lang="es-MX" smtClean="0"/>
              <a:t>15/10/2026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AAAD97-6770-AC40-AE3B-63DDAA25F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C63645-945A-7E8A-6F78-0F695C8CC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D6B0-D28D-4D20-BBCB-6C8BE6DE1A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2212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A6595-70BF-8C81-249A-57CFB5D92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29AFD61-B9B4-B974-FF5C-031FA85A3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437CA4-2BE9-9725-FDE6-0D2258B61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B95920-2E5B-1F7E-84AC-B06E7DEAE0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D8D954-35DD-0A68-DD64-5819A11360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6C7E13C-EE7D-C725-EC7B-5C98AB0BD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9DDB-A43C-471D-9886-E48ECD218CFE}" type="datetimeFigureOut">
              <a:rPr lang="es-MX" smtClean="0"/>
              <a:t>15/10/2026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1FCFA3-A594-8C7B-16F4-8737FF0DA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F4657CE-3EB7-82F8-BD32-BAE2E94A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D6B0-D28D-4D20-BBCB-6C8BE6DE1A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5262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A131D-E1EE-3895-FE79-A352EAB48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E59CB1E-66B3-77AB-2377-DEA265555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9DDB-A43C-471D-9886-E48ECD218CFE}" type="datetimeFigureOut">
              <a:rPr lang="es-MX" smtClean="0"/>
              <a:t>15/10/2026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EFABE20-11EE-0753-DD51-8274BA5B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07E4A5-9FC3-FC1D-D9D3-F0AF8715D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D6B0-D28D-4D20-BBCB-6C8BE6DE1A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775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73C32F9-895D-05D4-46F9-92F41D442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9DDB-A43C-471D-9886-E48ECD218CFE}" type="datetimeFigureOut">
              <a:rPr lang="es-MX" smtClean="0"/>
              <a:t>15/10/2026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FDBFA-C8FB-18AA-0F6B-29CEB6957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D2DEDA-0B38-BC2D-2949-76814E1BD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D6B0-D28D-4D20-BBCB-6C8BE6DE1A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2676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0217F-657A-4605-67CD-B11284ADF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4003C8-336E-CAEE-8CE3-CE7ED3C36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3862C9-064C-35D8-792F-B94C27F31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559081-56F4-6198-BB6D-33635916C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9DDB-A43C-471D-9886-E48ECD218CFE}" type="datetimeFigureOut">
              <a:rPr lang="es-MX" smtClean="0"/>
              <a:t>15/10/2026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11DC9F-87E0-055A-C549-E3345F3D1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8B8E66-FE9E-AE95-4E3E-E786D6576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D6B0-D28D-4D20-BBCB-6C8BE6DE1A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4742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50CB40-DE2A-1A21-3BD8-81BBFC6D8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B4B776A-DAA8-AEAE-125F-F2C8AA7E14C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1DD18B-1077-9DF7-05A4-0BDBDD7ED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48BC26-05CC-E774-E5FB-FEABF7656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9DDB-A43C-471D-9886-E48ECD218CFE}" type="datetimeFigureOut">
              <a:rPr lang="es-MX" smtClean="0"/>
              <a:t>15/10/2026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7DF409-F729-063E-7BA3-19D2BDD5C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181AB7-15E8-FB1B-E71B-0B9A55A92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D6B0-D28D-4D20-BBCB-6C8BE6DE1A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891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04D05A-0E03-EFD1-2874-A994A3EB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30A399-2132-2832-70CF-F9DF80BD1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87771E-72E4-D876-912B-6EB4C392E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9DDB-A43C-471D-9886-E48ECD218CFE}" type="datetimeFigureOut">
              <a:rPr lang="es-MX" smtClean="0"/>
              <a:t>15/10/2026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975F76-0807-643C-F698-8D0126DED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A37090-C2DA-EF5F-F445-EBB608D7F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D6B0-D28D-4D20-BBCB-6C8BE6DE1A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5516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031EB78-5AC7-305E-0A3E-C6032BB6F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7457864-7742-B01B-4D5C-11CED4E14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C62D80-6F7F-C3AE-FA43-D4759AB1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69DDB-A43C-471D-9886-E48ECD218CFE}" type="datetimeFigureOut">
              <a:rPr lang="es-MX" smtClean="0"/>
              <a:t>15/10/2026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63E6BC-8F52-FDA9-5B7B-B92A6DC2A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D557FE-78E5-58CE-7B35-0DAE61AFC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AD6B0-D28D-4D20-BBCB-6C8BE6DE1A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06045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37514D-1CA1-FC07-1BFC-4651B052D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2F670E-BDAB-E3A5-A4C0-7D09E5FC1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6D218C-3C46-5C19-9F30-2C2F341932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69DDB-A43C-471D-9886-E48ECD218CFE}" type="datetimeFigureOut">
              <a:rPr lang="es-MX" smtClean="0"/>
              <a:t>15/10/2026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C50D14-83CC-29E5-FBEC-76031434E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7C9753-6F18-31A4-E9C4-62F278D19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AD6B0-D28D-4D20-BBCB-6C8BE6DE1A1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3154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DF2A30-B800-7FDD-6AB8-7E1399F34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s-MX" sz="5200" b="1"/>
              <a:t>Auto Insurance Premium Rating &amp; Explainability Program</a:t>
            </a:r>
            <a:r>
              <a:rPr lang="es-MX" sz="5200"/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DC0E93-2100-CB57-FCF8-2E5AAEFDE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Us</a:t>
            </a:r>
            <a:endParaRPr lang="es-MX"/>
          </a:p>
        </p:txBody>
      </p:sp>
      <p:pic>
        <p:nvPicPr>
          <p:cNvPr id="7" name="Graphic 6" descr="Coche">
            <a:extLst>
              <a:ext uri="{FF2B5EF4-FFF2-40B4-BE49-F238E27FC236}">
                <a16:creationId xmlns:a16="http://schemas.microsoft.com/office/drawing/2014/main" id="{4D602071-CBC2-9EAF-AF4F-B5058DDB6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Coche">
            <a:extLst>
              <a:ext uri="{FF2B5EF4-FFF2-40B4-BE49-F238E27FC236}">
                <a16:creationId xmlns:a16="http://schemas.microsoft.com/office/drawing/2014/main" id="{1F38A46B-F602-4DB6-93C3-672EF64AD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83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550873-162E-3373-FA3A-C3A7A69C9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1719" y="640356"/>
            <a:ext cx="5754696" cy="1837349"/>
          </a:xfrm>
        </p:spPr>
        <p:txBody>
          <a:bodyPr>
            <a:normAutofit/>
          </a:bodyPr>
          <a:lstStyle/>
          <a:p>
            <a:pPr algn="ctr"/>
            <a:r>
              <a:rPr lang="es-MX" sz="5400" dirty="0">
                <a:solidFill>
                  <a:schemeClr val="tx2"/>
                </a:solidFill>
              </a:rPr>
              <a:t>Purpose &amp; </a:t>
            </a:r>
            <a:r>
              <a:rPr lang="es-MX" sz="5400" dirty="0" err="1">
                <a:solidFill>
                  <a:schemeClr val="tx2"/>
                </a:solidFill>
              </a:rPr>
              <a:t>Problem</a:t>
            </a:r>
            <a:endParaRPr lang="es-MX" sz="5400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545017-2445-4AB3-95A6-48F17C802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0">
              <a:extLst>
                <a:ext uri="{FF2B5EF4-FFF2-40B4-BE49-F238E27FC236}">
                  <a16:creationId xmlns:a16="http://schemas.microsoft.com/office/drawing/2014/main" id="{F3B5D580-007D-4215-A10B-C8CF12EE0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28C19-035F-4E8E-BAFD-56EC684B6F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0D7C81-A1BE-4720-A66D-AEF9A11A5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BF18FEE-BE44-4F4A-AA4E-EC795CB0B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B148C1-7F3A-EA44-D6E8-9747587E1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654" y="2577520"/>
            <a:ext cx="10208388" cy="3780750"/>
          </a:xfrm>
        </p:spPr>
        <p:txBody>
          <a:bodyPr>
            <a:normAutofit/>
          </a:bodyPr>
          <a:lstStyle/>
          <a:p>
            <a:r>
              <a:rPr lang="es-MX" sz="4000" b="1" dirty="0">
                <a:solidFill>
                  <a:schemeClr val="tx2"/>
                </a:solidFill>
              </a:rPr>
              <a:t>Purpose:</a:t>
            </a:r>
            <a:r>
              <a:rPr lang="es-MX" sz="4000" dirty="0">
                <a:solidFill>
                  <a:schemeClr val="tx2"/>
                </a:solidFill>
              </a:rPr>
              <a:t> </a:t>
            </a:r>
            <a:r>
              <a:rPr lang="es-MX" sz="4000" dirty="0" err="1">
                <a:solidFill>
                  <a:schemeClr val="tx2"/>
                </a:solidFill>
              </a:rPr>
              <a:t>Demonstrate</a:t>
            </a:r>
            <a:r>
              <a:rPr lang="es-MX" sz="4000" dirty="0">
                <a:solidFill>
                  <a:schemeClr val="tx2"/>
                </a:solidFill>
              </a:rPr>
              <a:t> </a:t>
            </a:r>
            <a:r>
              <a:rPr lang="es-MX" sz="4000" dirty="0" err="1">
                <a:solidFill>
                  <a:schemeClr val="tx2"/>
                </a:solidFill>
              </a:rPr>
              <a:t>how</a:t>
            </a:r>
            <a:r>
              <a:rPr lang="es-MX" sz="4000" dirty="0">
                <a:solidFill>
                  <a:schemeClr val="tx2"/>
                </a:solidFill>
              </a:rPr>
              <a:t> </a:t>
            </a:r>
            <a:r>
              <a:rPr lang="es-MX" sz="4000" dirty="0" err="1">
                <a:solidFill>
                  <a:schemeClr val="tx2"/>
                </a:solidFill>
              </a:rPr>
              <a:t>insurance</a:t>
            </a:r>
            <a:r>
              <a:rPr lang="es-MX" sz="4000" dirty="0">
                <a:solidFill>
                  <a:schemeClr val="tx2"/>
                </a:solidFill>
              </a:rPr>
              <a:t> </a:t>
            </a:r>
            <a:r>
              <a:rPr lang="es-MX" sz="4000" dirty="0" err="1">
                <a:solidFill>
                  <a:schemeClr val="tx2"/>
                </a:solidFill>
              </a:rPr>
              <a:t>premiums</a:t>
            </a:r>
            <a:r>
              <a:rPr lang="es-MX" sz="4000" dirty="0">
                <a:solidFill>
                  <a:schemeClr val="tx2"/>
                </a:solidFill>
              </a:rPr>
              <a:t> can be </a:t>
            </a:r>
            <a:r>
              <a:rPr lang="es-MX" sz="4000" dirty="0" err="1">
                <a:solidFill>
                  <a:schemeClr val="tx2"/>
                </a:solidFill>
              </a:rPr>
              <a:t>calculated</a:t>
            </a:r>
            <a:r>
              <a:rPr lang="es-MX" sz="4000" dirty="0">
                <a:solidFill>
                  <a:schemeClr val="tx2"/>
                </a:solidFill>
              </a:rPr>
              <a:t> </a:t>
            </a:r>
            <a:r>
              <a:rPr lang="es-MX" sz="4000" dirty="0" err="1">
                <a:solidFill>
                  <a:schemeClr val="tx2"/>
                </a:solidFill>
              </a:rPr>
              <a:t>transparently</a:t>
            </a:r>
            <a:r>
              <a:rPr lang="es-MX" sz="4000" dirty="0">
                <a:solidFill>
                  <a:schemeClr val="tx2"/>
                </a:solidFill>
              </a:rPr>
              <a:t>. </a:t>
            </a:r>
          </a:p>
          <a:p>
            <a:r>
              <a:rPr lang="es-MX" sz="4000" b="1" dirty="0" err="1">
                <a:solidFill>
                  <a:schemeClr val="tx2"/>
                </a:solidFill>
              </a:rPr>
              <a:t>Problem</a:t>
            </a:r>
            <a:r>
              <a:rPr lang="es-MX" sz="4000" b="1" dirty="0">
                <a:solidFill>
                  <a:schemeClr val="tx2"/>
                </a:solidFill>
              </a:rPr>
              <a:t>:</a:t>
            </a:r>
            <a:r>
              <a:rPr lang="es-MX" sz="4000" dirty="0">
                <a:solidFill>
                  <a:schemeClr val="tx2"/>
                </a:solidFill>
              </a:rPr>
              <a:t> </a:t>
            </a:r>
            <a:r>
              <a:rPr lang="es-MX" sz="4000" dirty="0" err="1">
                <a:solidFill>
                  <a:schemeClr val="tx2"/>
                </a:solidFill>
              </a:rPr>
              <a:t>Traditional</a:t>
            </a:r>
            <a:r>
              <a:rPr lang="es-MX" sz="4000" dirty="0">
                <a:solidFill>
                  <a:schemeClr val="tx2"/>
                </a:solidFill>
              </a:rPr>
              <a:t> rating </a:t>
            </a:r>
            <a:r>
              <a:rPr lang="es-MX" sz="4000" dirty="0" err="1">
                <a:solidFill>
                  <a:schemeClr val="tx2"/>
                </a:solidFill>
              </a:rPr>
              <a:t>engines</a:t>
            </a:r>
            <a:r>
              <a:rPr lang="es-MX" sz="4000" dirty="0">
                <a:solidFill>
                  <a:schemeClr val="tx2"/>
                </a:solidFill>
              </a:rPr>
              <a:t> are opaque; </a:t>
            </a:r>
            <a:r>
              <a:rPr lang="es-MX" sz="4000" dirty="0" err="1">
                <a:solidFill>
                  <a:schemeClr val="tx2"/>
                </a:solidFill>
              </a:rPr>
              <a:t>this</a:t>
            </a:r>
            <a:r>
              <a:rPr lang="es-MX" sz="4000" dirty="0">
                <a:solidFill>
                  <a:schemeClr val="tx2"/>
                </a:solidFill>
              </a:rPr>
              <a:t> </a:t>
            </a:r>
            <a:r>
              <a:rPr lang="es-MX" sz="4000" dirty="0" err="1">
                <a:solidFill>
                  <a:schemeClr val="tx2"/>
                </a:solidFill>
              </a:rPr>
              <a:t>project</a:t>
            </a:r>
            <a:r>
              <a:rPr lang="es-MX" sz="4000" dirty="0">
                <a:solidFill>
                  <a:schemeClr val="tx2"/>
                </a:solidFill>
              </a:rPr>
              <a:t> combines </a:t>
            </a:r>
            <a:r>
              <a:rPr lang="es-MX" sz="4000" dirty="0" err="1">
                <a:solidFill>
                  <a:schemeClr val="tx2"/>
                </a:solidFill>
              </a:rPr>
              <a:t>deterministic</a:t>
            </a:r>
            <a:r>
              <a:rPr lang="es-MX" sz="4000" dirty="0">
                <a:solidFill>
                  <a:schemeClr val="tx2"/>
                </a:solidFill>
              </a:rPr>
              <a:t> </a:t>
            </a:r>
            <a:r>
              <a:rPr lang="es-MX" sz="4000" dirty="0" err="1">
                <a:solidFill>
                  <a:schemeClr val="tx2"/>
                </a:solidFill>
              </a:rPr>
              <a:t>logic</a:t>
            </a:r>
            <a:r>
              <a:rPr lang="es-MX" sz="4000" dirty="0">
                <a:solidFill>
                  <a:schemeClr val="tx2"/>
                </a:solidFill>
              </a:rPr>
              <a:t> and AI </a:t>
            </a:r>
            <a:r>
              <a:rPr lang="es-MX" sz="4000" dirty="0" err="1">
                <a:solidFill>
                  <a:schemeClr val="tx2"/>
                </a:solidFill>
              </a:rPr>
              <a:t>explainability</a:t>
            </a:r>
            <a:r>
              <a:rPr lang="es-MX" sz="4000" dirty="0">
                <a:solidFill>
                  <a:schemeClr val="tx2"/>
                </a:solidFill>
              </a:rPr>
              <a:t>.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B7259D-F2AD-42FE-B984-6D1D74321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4" y="3658536"/>
            <a:ext cx="3655725" cy="2743201"/>
            <a:chOff x="-305" y="-1"/>
            <a:chExt cx="3832880" cy="2876136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5C38C6-2516-45D1-ADFC-3F59F8E34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C274C95-E7A7-401D-A8F5-FFF5EB929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1D598C3-55D0-44FB-8766-A89B34B31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9EBC5C7-E54F-42F3-93F0-75AAC99FF9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04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5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1F98E6-367A-B69B-A503-D1FE5F37B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s-MX" sz="5200"/>
              <a:t>Workflow Overview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66D307B-412A-8369-04F1-58132180B3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680743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33043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rs parked in a line">
            <a:extLst>
              <a:ext uri="{FF2B5EF4-FFF2-40B4-BE49-F238E27FC236}">
                <a16:creationId xmlns:a16="http://schemas.microsoft.com/office/drawing/2014/main" id="{67292478-0386-0B3C-ED7A-89FE5A8AFC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65" b="3270"/>
          <a:stretch>
            <a:fillRect/>
          </a:stretch>
        </p:blipFill>
        <p:spPr>
          <a:xfrm>
            <a:off x="2437296" y="10"/>
            <a:ext cx="966964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F52776-A5CC-0E03-7824-3ED259E6B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63" y="0"/>
            <a:ext cx="3822189" cy="1899912"/>
          </a:xfrm>
        </p:spPr>
        <p:txBody>
          <a:bodyPr>
            <a:normAutofit/>
          </a:bodyPr>
          <a:lstStyle/>
          <a:p>
            <a:r>
              <a:rPr lang="es-MX" sz="4800" dirty="0"/>
              <a:t>Input Tables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E6F2C9-FE6D-69EA-FDBD-46587E445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62" y="2227471"/>
            <a:ext cx="5654862" cy="3400470"/>
          </a:xfrm>
        </p:spPr>
        <p:txBody>
          <a:bodyPr>
            <a:normAutofit/>
          </a:bodyPr>
          <a:lstStyle/>
          <a:p>
            <a:r>
              <a:rPr lang="es-MX" b="1" dirty="0"/>
              <a:t>Tables:</a:t>
            </a:r>
            <a:r>
              <a:rPr lang="es-MX" dirty="0"/>
              <a:t> Policy, </a:t>
            </a:r>
            <a:r>
              <a:rPr lang="es-MX" dirty="0" err="1"/>
              <a:t>Vehicle</a:t>
            </a:r>
            <a:r>
              <a:rPr lang="es-MX" dirty="0"/>
              <a:t>, Driver, </a:t>
            </a:r>
            <a:r>
              <a:rPr lang="es-MX" dirty="0" err="1"/>
              <a:t>Incident</a:t>
            </a:r>
            <a:r>
              <a:rPr lang="es-MX" dirty="0"/>
              <a:t> </a:t>
            </a:r>
          </a:p>
          <a:p>
            <a:r>
              <a:rPr lang="es-MX" b="1" dirty="0"/>
              <a:t>Key </a:t>
            </a:r>
            <a:r>
              <a:rPr lang="es-MX" b="1" dirty="0" err="1"/>
              <a:t>fields</a:t>
            </a:r>
            <a:r>
              <a:rPr lang="es-MX" b="1" dirty="0"/>
              <a:t>:</a:t>
            </a:r>
            <a:r>
              <a:rPr lang="es-MX" dirty="0"/>
              <a:t> </a:t>
            </a:r>
            <a:r>
              <a:rPr lang="es-MX" dirty="0" err="1"/>
              <a:t>state</a:t>
            </a:r>
            <a:r>
              <a:rPr lang="es-MX" dirty="0"/>
              <a:t>, </a:t>
            </a:r>
            <a:r>
              <a:rPr lang="es-MX" dirty="0" err="1"/>
              <a:t>driver_age</a:t>
            </a:r>
            <a:r>
              <a:rPr lang="es-MX" dirty="0"/>
              <a:t>, </a:t>
            </a:r>
            <a:r>
              <a:rPr lang="es-MX" dirty="0" err="1"/>
              <a:t>vehicle_symbol</a:t>
            </a:r>
            <a:r>
              <a:rPr lang="es-MX" dirty="0"/>
              <a:t>, num_claims_past_3_years, </a:t>
            </a:r>
            <a:r>
              <a:rPr lang="es-MX" dirty="0" err="1"/>
              <a:t>policy_term_months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08043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24FCF93-1EB2-FE79-2BAE-76231D4AB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anchor="ctr">
            <a:normAutofit/>
          </a:bodyPr>
          <a:lstStyle/>
          <a:p>
            <a:r>
              <a:rPr lang="es-MX" sz="4800"/>
              <a:t>Rating Formula</a:t>
            </a:r>
          </a:p>
        </p:txBody>
      </p:sp>
      <p:graphicFrame>
        <p:nvGraphicFramePr>
          <p:cNvPr id="8" name="Marcador de contenido 2">
            <a:extLst>
              <a:ext uri="{FF2B5EF4-FFF2-40B4-BE49-F238E27FC236}">
                <a16:creationId xmlns:a16="http://schemas.microsoft.com/office/drawing/2014/main" id="{CA2EAB2D-499B-9315-69BA-C446D3A06C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0251580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4856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7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34524E-3840-ED68-A6A8-EA9C2DB24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s-MX"/>
              <a:t>AI Model &amp; Explainability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18EB0E91-C960-380B-AA23-41A5FAE00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 anchor="t">
            <a:normAutofit/>
          </a:bodyPr>
          <a:lstStyle/>
          <a:p>
            <a:r>
              <a:rPr lang="es-MX" sz="3200" b="1" dirty="0"/>
              <a:t>Model:</a:t>
            </a:r>
            <a:r>
              <a:rPr lang="es-MX" sz="3200" dirty="0"/>
              <a:t> </a:t>
            </a:r>
            <a:r>
              <a:rPr lang="es-MX" sz="3200" dirty="0" err="1"/>
              <a:t>XGBoost</a:t>
            </a:r>
            <a:r>
              <a:rPr lang="es-MX" sz="3200" dirty="0"/>
              <a:t> </a:t>
            </a:r>
            <a:r>
              <a:rPr lang="es-MX" sz="3200" dirty="0" err="1"/>
              <a:t>trained</a:t>
            </a:r>
            <a:r>
              <a:rPr lang="es-MX" sz="3200" dirty="0"/>
              <a:t> </a:t>
            </a:r>
            <a:r>
              <a:rPr lang="es-MX" sz="3200" dirty="0" err="1"/>
              <a:t>on</a:t>
            </a:r>
            <a:r>
              <a:rPr lang="es-MX" sz="3200" dirty="0"/>
              <a:t> </a:t>
            </a:r>
            <a:r>
              <a:rPr lang="es-MX" sz="3200" dirty="0" err="1"/>
              <a:t>deterministic</a:t>
            </a:r>
            <a:r>
              <a:rPr lang="es-MX" sz="3200" dirty="0"/>
              <a:t> </a:t>
            </a:r>
            <a:r>
              <a:rPr lang="es-MX" sz="3200" dirty="0" err="1"/>
              <a:t>premiums</a:t>
            </a:r>
            <a:r>
              <a:rPr lang="es-MX" sz="3200" dirty="0"/>
              <a:t>. </a:t>
            </a:r>
          </a:p>
          <a:p>
            <a:r>
              <a:rPr lang="es-MX" sz="3200" b="1" dirty="0" err="1"/>
              <a:t>Explainability</a:t>
            </a:r>
            <a:r>
              <a:rPr lang="es-MX" sz="3200" b="1" dirty="0"/>
              <a:t>:</a:t>
            </a:r>
            <a:r>
              <a:rPr lang="es-MX" sz="3200" dirty="0"/>
              <a:t> SHAP </a:t>
            </a:r>
            <a:r>
              <a:rPr lang="es-MX" sz="3200" dirty="0" err="1"/>
              <a:t>values</a:t>
            </a:r>
            <a:r>
              <a:rPr lang="es-MX" sz="3200" dirty="0"/>
              <a:t> show </a:t>
            </a:r>
            <a:r>
              <a:rPr lang="es-MX" sz="3200" dirty="0" err="1"/>
              <a:t>feature</a:t>
            </a:r>
            <a:r>
              <a:rPr lang="es-MX" sz="3200" dirty="0"/>
              <a:t> </a:t>
            </a:r>
            <a:r>
              <a:rPr lang="es-MX" sz="3200" dirty="0" err="1"/>
              <a:t>contributions</a:t>
            </a:r>
            <a:r>
              <a:rPr lang="es-MX" sz="3200" dirty="0"/>
              <a:t> per </a:t>
            </a:r>
            <a:r>
              <a:rPr lang="es-MX" sz="3200" dirty="0" err="1"/>
              <a:t>policy</a:t>
            </a:r>
            <a:r>
              <a:rPr lang="es-MX" sz="3200" dirty="0"/>
              <a:t>.</a:t>
            </a:r>
          </a:p>
        </p:txBody>
      </p:sp>
      <p:pic>
        <p:nvPicPr>
          <p:cNvPr id="8" name="Picture 4" descr="Toy cars lined up in a row on floor">
            <a:extLst>
              <a:ext uri="{FF2B5EF4-FFF2-40B4-BE49-F238E27FC236}">
                <a16:creationId xmlns:a16="http://schemas.microsoft.com/office/drawing/2014/main" id="{667330F3-BFBC-0794-1617-2B7CF1E81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673" r="19508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01641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68404E-520A-0EC9-D93D-27D42B93A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503" y="170602"/>
            <a:ext cx="4977976" cy="1454051"/>
          </a:xfrm>
        </p:spPr>
        <p:txBody>
          <a:bodyPr>
            <a:normAutofit/>
          </a:bodyPr>
          <a:lstStyle/>
          <a:p>
            <a:r>
              <a:rPr lang="es-MX" sz="4800" dirty="0">
                <a:solidFill>
                  <a:schemeClr val="tx2"/>
                </a:solidFill>
              </a:rPr>
              <a:t>Excel </a:t>
            </a:r>
            <a:r>
              <a:rPr lang="es-MX" sz="4800" dirty="0" err="1">
                <a:solidFill>
                  <a:schemeClr val="tx2"/>
                </a:solidFill>
              </a:rPr>
              <a:t>Workbook</a:t>
            </a:r>
            <a:endParaRPr lang="es-MX" sz="4800" dirty="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A8DADF-0CDB-7F25-7E9A-36B3EE333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155" y="1723312"/>
            <a:ext cx="6501682" cy="4252186"/>
          </a:xfrm>
        </p:spPr>
        <p:txBody>
          <a:bodyPr anchor="ctr">
            <a:normAutofit/>
          </a:bodyPr>
          <a:lstStyle/>
          <a:p>
            <a:pPr lvl="0"/>
            <a:r>
              <a:rPr lang="es-MX" sz="4000" dirty="0" err="1">
                <a:solidFill>
                  <a:schemeClr val="tx2"/>
                </a:solidFill>
              </a:rPr>
              <a:t>All_Policies</a:t>
            </a:r>
            <a:r>
              <a:rPr lang="es-MX" sz="4000" dirty="0">
                <a:solidFill>
                  <a:schemeClr val="tx2"/>
                </a:solidFill>
              </a:rPr>
              <a:t>: full </a:t>
            </a:r>
            <a:r>
              <a:rPr lang="es-MX" sz="4000" dirty="0" err="1">
                <a:solidFill>
                  <a:schemeClr val="tx2"/>
                </a:solidFill>
              </a:rPr>
              <a:t>dataset</a:t>
            </a:r>
            <a:r>
              <a:rPr lang="es-MX" sz="4000" dirty="0">
                <a:solidFill>
                  <a:schemeClr val="tx2"/>
                </a:solidFill>
              </a:rPr>
              <a:t> </a:t>
            </a:r>
            <a:r>
              <a:rPr lang="es-MX" sz="4000" dirty="0" err="1">
                <a:solidFill>
                  <a:schemeClr val="tx2"/>
                </a:solidFill>
              </a:rPr>
              <a:t>with</a:t>
            </a:r>
            <a:r>
              <a:rPr lang="es-MX" sz="4000" dirty="0">
                <a:solidFill>
                  <a:schemeClr val="tx2"/>
                </a:solidFill>
              </a:rPr>
              <a:t> </a:t>
            </a:r>
            <a:r>
              <a:rPr lang="es-MX" sz="4000" dirty="0" err="1">
                <a:solidFill>
                  <a:schemeClr val="tx2"/>
                </a:solidFill>
              </a:rPr>
              <a:t>calculated</a:t>
            </a:r>
            <a:r>
              <a:rPr lang="es-MX" sz="4000" dirty="0">
                <a:solidFill>
                  <a:schemeClr val="tx2"/>
                </a:solidFill>
              </a:rPr>
              <a:t> </a:t>
            </a:r>
            <a:r>
              <a:rPr lang="es-MX" sz="4000" dirty="0" err="1">
                <a:solidFill>
                  <a:schemeClr val="tx2"/>
                </a:solidFill>
              </a:rPr>
              <a:t>premiums</a:t>
            </a:r>
            <a:r>
              <a:rPr lang="es-MX" sz="4000" dirty="0">
                <a:solidFill>
                  <a:schemeClr val="tx2"/>
                </a:solidFill>
              </a:rPr>
              <a:t>.</a:t>
            </a:r>
          </a:p>
          <a:p>
            <a:pPr lvl="0"/>
            <a:r>
              <a:rPr lang="es-MX" sz="4000" dirty="0" err="1">
                <a:solidFill>
                  <a:schemeClr val="tx2"/>
                </a:solidFill>
              </a:rPr>
              <a:t>Explainability_Dashboard</a:t>
            </a:r>
            <a:r>
              <a:rPr lang="es-MX" sz="4000" dirty="0">
                <a:solidFill>
                  <a:schemeClr val="tx2"/>
                </a:solidFill>
              </a:rPr>
              <a:t>: interactive SHAP </a:t>
            </a:r>
            <a:r>
              <a:rPr lang="es-MX" sz="4000" dirty="0" err="1">
                <a:solidFill>
                  <a:schemeClr val="tx2"/>
                </a:solidFill>
              </a:rPr>
              <a:t>visualization</a:t>
            </a:r>
            <a:r>
              <a:rPr lang="es-MX" sz="4000" dirty="0">
                <a:solidFill>
                  <a:schemeClr val="tx2"/>
                </a:solidFill>
              </a:rPr>
              <a:t>.</a:t>
            </a:r>
          </a:p>
          <a:p>
            <a:endParaRPr lang="es-MX" sz="40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Engranajes">
            <a:extLst>
              <a:ext uri="{FF2B5EF4-FFF2-40B4-BE49-F238E27FC236}">
                <a16:creationId xmlns:a16="http://schemas.microsoft.com/office/drawing/2014/main" id="{812B8CAD-12EA-5404-7A89-43D4D6AC3B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777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02B13D-2419-B35B-7EEA-C9BD6F869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77" y="260694"/>
            <a:ext cx="4977976" cy="1454051"/>
          </a:xfrm>
        </p:spPr>
        <p:txBody>
          <a:bodyPr>
            <a:normAutofit/>
          </a:bodyPr>
          <a:lstStyle/>
          <a:p>
            <a:r>
              <a:rPr lang="es-MX" sz="5400" dirty="0" err="1">
                <a:solidFill>
                  <a:schemeClr val="tx2"/>
                </a:solidFill>
              </a:rPr>
              <a:t>Conclusion</a:t>
            </a:r>
            <a:endParaRPr lang="es-MX" sz="5400" dirty="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726069-8777-CCEB-349F-D4A3D6649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253" y="1975439"/>
            <a:ext cx="6053328" cy="3755834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s-MX" sz="3600" b="1" dirty="0">
                <a:solidFill>
                  <a:schemeClr val="tx2"/>
                </a:solidFill>
              </a:rPr>
              <a:t>Key </a:t>
            </a:r>
            <a:r>
              <a:rPr lang="es-MX" sz="3600" b="1" dirty="0" err="1">
                <a:solidFill>
                  <a:schemeClr val="tx2"/>
                </a:solidFill>
              </a:rPr>
              <a:t>Takeaways</a:t>
            </a:r>
            <a:r>
              <a:rPr lang="es-MX" sz="3600" b="1" dirty="0">
                <a:solidFill>
                  <a:schemeClr val="tx2"/>
                </a:solidFill>
              </a:rPr>
              <a:t>:</a:t>
            </a:r>
            <a:endParaRPr lang="es-MX" sz="3600" dirty="0">
              <a:solidFill>
                <a:schemeClr val="tx2"/>
              </a:solidFill>
            </a:endParaRPr>
          </a:p>
          <a:p>
            <a:pPr lvl="0"/>
            <a:r>
              <a:rPr lang="es-MX" sz="3600" dirty="0" err="1">
                <a:solidFill>
                  <a:schemeClr val="tx2"/>
                </a:solidFill>
              </a:rPr>
              <a:t>Transparent</a:t>
            </a:r>
            <a:r>
              <a:rPr lang="es-MX" sz="3600" dirty="0">
                <a:solidFill>
                  <a:schemeClr val="tx2"/>
                </a:solidFill>
              </a:rPr>
              <a:t> rating </a:t>
            </a:r>
            <a:r>
              <a:rPr lang="es-MX" sz="3600" dirty="0" err="1">
                <a:solidFill>
                  <a:schemeClr val="tx2"/>
                </a:solidFill>
              </a:rPr>
              <a:t>logic</a:t>
            </a:r>
            <a:r>
              <a:rPr lang="es-MX" sz="3600" dirty="0">
                <a:solidFill>
                  <a:schemeClr val="tx2"/>
                </a:solidFill>
              </a:rPr>
              <a:t>.</a:t>
            </a:r>
          </a:p>
          <a:p>
            <a:pPr lvl="0"/>
            <a:r>
              <a:rPr lang="es-MX" sz="3600" dirty="0">
                <a:solidFill>
                  <a:schemeClr val="tx2"/>
                </a:solidFill>
              </a:rPr>
              <a:t>AI </a:t>
            </a:r>
            <a:r>
              <a:rPr lang="es-MX" sz="3600" dirty="0" err="1">
                <a:solidFill>
                  <a:schemeClr val="tx2"/>
                </a:solidFill>
              </a:rPr>
              <a:t>explainability</a:t>
            </a:r>
            <a:r>
              <a:rPr lang="es-MX" sz="3600" dirty="0">
                <a:solidFill>
                  <a:schemeClr val="tx2"/>
                </a:solidFill>
              </a:rPr>
              <a:t> </a:t>
            </a:r>
            <a:r>
              <a:rPr lang="es-MX" sz="3600" dirty="0" err="1">
                <a:solidFill>
                  <a:schemeClr val="tx2"/>
                </a:solidFill>
              </a:rPr>
              <a:t>adds</a:t>
            </a:r>
            <a:r>
              <a:rPr lang="es-MX" sz="3600" dirty="0">
                <a:solidFill>
                  <a:schemeClr val="tx2"/>
                </a:solidFill>
              </a:rPr>
              <a:t> trust.</a:t>
            </a:r>
          </a:p>
          <a:p>
            <a:pPr lvl="0"/>
            <a:r>
              <a:rPr lang="es-MX" sz="3600" dirty="0">
                <a:solidFill>
                  <a:schemeClr val="tx2"/>
                </a:solidFill>
              </a:rPr>
              <a:t>Reproducible </a:t>
            </a:r>
            <a:r>
              <a:rPr lang="es-MX" sz="3600" dirty="0" err="1">
                <a:solidFill>
                  <a:schemeClr val="tx2"/>
                </a:solidFill>
              </a:rPr>
              <a:t>workflow</a:t>
            </a:r>
            <a:r>
              <a:rPr lang="es-MX" sz="3600" dirty="0">
                <a:solidFill>
                  <a:schemeClr val="tx2"/>
                </a:solidFill>
              </a:rPr>
              <a:t> </a:t>
            </a:r>
            <a:r>
              <a:rPr lang="es-MX" sz="3600" dirty="0" err="1">
                <a:solidFill>
                  <a:schemeClr val="tx2"/>
                </a:solidFill>
              </a:rPr>
              <a:t>for</a:t>
            </a:r>
            <a:r>
              <a:rPr lang="es-MX" sz="3600" dirty="0">
                <a:solidFill>
                  <a:schemeClr val="tx2"/>
                </a:solidFill>
              </a:rPr>
              <a:t> </a:t>
            </a:r>
            <a:r>
              <a:rPr lang="es-MX" sz="3600" dirty="0" err="1">
                <a:solidFill>
                  <a:schemeClr val="tx2"/>
                </a:solidFill>
              </a:rPr>
              <a:t>insurance</a:t>
            </a:r>
            <a:r>
              <a:rPr lang="es-MX" sz="3600" dirty="0">
                <a:solidFill>
                  <a:schemeClr val="tx2"/>
                </a:solidFill>
              </a:rPr>
              <a:t> </a:t>
            </a:r>
            <a:r>
              <a:rPr lang="es-MX" sz="3600" dirty="0" err="1">
                <a:solidFill>
                  <a:schemeClr val="tx2"/>
                </a:solidFill>
              </a:rPr>
              <a:t>analytics</a:t>
            </a:r>
            <a:r>
              <a:rPr lang="es-MX" sz="3600" dirty="0">
                <a:solidFill>
                  <a:schemeClr val="tx2"/>
                </a:solidFill>
              </a:rPr>
              <a:t>.</a:t>
            </a:r>
          </a:p>
          <a:p>
            <a:endParaRPr lang="es-MX" sz="36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5FFF0F27-F327-DDEA-8B8B-46C274C713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129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235</Words>
  <Application>Microsoft Office PowerPoint</Application>
  <PresentationFormat>Panorámica</PresentationFormat>
  <Paragraphs>35</Paragraphs>
  <Slides>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Auto Insurance Premium Rating &amp; Explainability Program </vt:lpstr>
      <vt:lpstr>Purpose &amp; Problem</vt:lpstr>
      <vt:lpstr>Workflow Overview</vt:lpstr>
      <vt:lpstr>Input Tables</vt:lpstr>
      <vt:lpstr>Rating Formula</vt:lpstr>
      <vt:lpstr>AI Model &amp; Explainability</vt:lpstr>
      <vt:lpstr>Excel Workbook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Emilio Saráchaga</dc:creator>
  <cp:lastModifiedBy>Juan Emilio Saráchaga</cp:lastModifiedBy>
  <cp:revision>2</cp:revision>
  <dcterms:created xsi:type="dcterms:W3CDTF">2026-10-16T01:56:41Z</dcterms:created>
  <dcterms:modified xsi:type="dcterms:W3CDTF">2026-10-16T02:24:08Z</dcterms:modified>
</cp:coreProperties>
</file>